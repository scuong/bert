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shape_Google Shape;253;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0" y="1188720"/>
            <a:ext cx="7772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B6CB0"/>
                </a:solidFill>
                <a:latin typeface="Arial"/>
              </a:defRPr>
            </a:pPr>
            <a:r>
              <a:t>ĐỒ ÁN MÔN HỌC: TRÍ TUỆ NHÂN TẠO</a:t>
            </a:r>
          </a:p>
          <a:p>
            <a:pPr>
              <a:spcBef>
                <a:spcPts val="800"/>
              </a:spcBef>
              <a:defRPr sz="2600" b="1">
                <a:solidFill>
                  <a:srgbClr val="1A365D"/>
                </a:solidFill>
                <a:latin typeface="Arial"/>
              </a:defRPr>
            </a:pPr>
            <a:r>
              <a:t>Ứng Dụng Mô Hình BERT Trong Phân Loại Cảm Xúc Đánh Giá Khách Sạn</a:t>
            </a:r>
          </a:p>
          <a:p>
            <a:pPr>
              <a:spcBef>
                <a:spcPts val="400"/>
              </a:spcBef>
              <a:defRPr sz="1500">
                <a:solidFill>
                  <a:srgbClr val="2D3748"/>
                </a:solidFill>
                <a:latin typeface="Arial"/>
              </a:defRPr>
            </a:pPr>
            <a:r>
              <a:t>Fine-Tuning BERT for Hotel Review Sentiment Classification</a:t>
            </a:r>
          </a:p>
          <a:p>
            <a:pPr>
              <a:spcBef>
                <a:spcPts val="1000"/>
              </a:spcBef>
              <a:defRPr sz="1150">
                <a:solidFill>
                  <a:srgbClr val="718096"/>
                </a:solidFill>
                <a:latin typeface="Arial"/>
              </a:defRPr>
            </a:pPr>
            <a:r>
              <a:t>Tuân thủ chuẩn mực AI Project Cycle • Thực nghiệm độc lập có kiểm chứng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411480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65D"/>
                </a:solidFill>
                <a:latin typeface="Arial"/>
              </a:defRPr>
            </a:pPr>
            <a:r>
              <a:t>THÔNG TIN BẢO VỆ ĐỒ ÁN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  <a:latin typeface="Arial"/>
              </a:defRPr>
            </a:pPr>
            <a:r>
              <a:t>• Giảng viên hướng dẫn: Bộ môn Trí tuệ Nhân tạo — Khoa Công nghệ Thông tin</a:t>
            </a:r>
            <a:br/>
            <a:r>
              <a:t>• Sinh viên thực hiện: Nhóm Nghiên cứu Đồ án BERT</a:t>
            </a:r>
            <a:br/>
            <a:r>
              <a:t>• Mô hình cốt lõi: google-bert/bert-base-uncased (110M tham số)</a:t>
            </a:r>
            <a:br/>
            <a:r>
              <a:t>• Tập dữ liệu: Teacher-provided dataset (19,745 mẫu sạch sau kiểm toán)</a:t>
            </a:r>
            <a:br/>
            <a:r>
              <a:t>• Kết quả nổi bật: BERT Test Accuracy 84.83% (Vượt Baseline +2.89% &amp; Code cũ +19.63%)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Arial"/>
              </a:defRPr>
            </a:pPr>
            <a:r>
              <a:t>01. Bối Cảnh &amp; Mục Tiêu Nghiên Cứu</a:t>
            </a:r>
          </a:p>
          <a:p>
            <a:pPr>
              <a:spcBef>
                <a:spcPts val="300"/>
              </a:spcBef>
              <a:defRPr sz="1100">
                <a:solidFill>
                  <a:srgbClr val="718096"/>
                </a:solidFill>
                <a:latin typeface="Arial"/>
              </a:defRPr>
            </a:pPr>
            <a:r>
              <a:t>Giai đoạn 01 (Scope &amp; Plan) theo chuẩn AI Project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91072"/>
            <a:ext cx="8229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718096"/>
                </a:solidFill>
                <a:latin typeface="Arial"/>
              </a:defRPr>
            </a:pPr>
            <a:r>
              <a:t>Đồ án môn học Trí tuệ Nhân tạo — ĐH Bách Khoa - ĐHĐN</a:t>
            </a:r>
          </a:p>
        </p:txBody>
      </p:sp>
      <p:pic>
        <p:nvPicPr>
          <p:cNvPr id="4" name="Picture 3" descr="slide5_shape_Google Shape;368;g3f87e06bbab_0_22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4" y="5897880"/>
            <a:ext cx="1097280" cy="594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defRPr sz="1400" b="1">
                <a:solidFill>
                  <a:srgbClr val="1A365D"/>
                </a:solidFill>
                <a:latin typeface="Arial"/>
              </a:defRPr>
            </a:pPr>
            <a:r>
              <a:t>Phát Biểu Bài Toán &amp; Bối Cảnh</a:t>
            </a:r>
          </a:p>
          <a:p>
            <a:pPr>
              <a:spcBef>
                <a:spcPts val="500"/>
              </a:spcBef>
              <a:defRPr sz="1100">
                <a:solidFill>
                  <a:srgbClr val="2D3748"/>
                </a:solidFill>
                <a:latin typeface="Arial"/>
              </a:defRPr>
            </a:pPr>
            <a:r>
              <a:t>• Bối cảnh thực tế:</a:t>
            </a:r>
            <a:br/>
            <a:r>
              <a:t>  - Hàng triệu đánh giá dịch vụ khách sạn trực tuyến (Booking.com) được đăng tải.</a:t>
            </a:r>
            <a:br/>
            <a:r>
              <a:t>  - Nhu cầu tự động hóa phân loại phản hồi khách hàng để xử lý kịp thời.</a:t>
            </a:r>
            <a:br/>
            <a:br/>
            <a:r>
              <a:t>• Đầu vào &amp; Đầu ra (I/O Specification):</a:t>
            </a:r>
            <a:br/>
            <a:r>
              <a:t>  - Input: Văn bản đánh giá tiếng Anh (độ dài từ vài từ đến hàng trăm từ).</a:t>
            </a:r>
            <a:br/>
            <a:r>
              <a:t>  - Output: Nhãn phân loại nhị phân (1: Tích cực, 0: Tiêu cực) kèm độ tin cậy.</a:t>
            </a:r>
            <a:br/>
            <a:br/>
            <a:r>
              <a:t>• Các bên liên quan (Stakeholders):</a:t>
            </a:r>
            <a:br/>
            <a:r>
              <a:t>  - Ban quản lý: Phát hiện sự cố dịch vụ ngay lập tức.</a:t>
            </a:r>
            <a:br/>
            <a:r>
              <a:t>  - Khách hàng: Kỳ vọng phản hồi được lắng nghe và cải thiện.</a:t>
            </a:r>
            <a:br/>
            <a:r>
              <a:t>  - Kỹ sư AI: Xây dựng hệ thống chính xác cao, có khả năng giải thích.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defRPr sz="1400" b="1">
                <a:solidFill>
                  <a:srgbClr val="1A365D"/>
                </a:solidFill>
                <a:latin typeface="Arial"/>
              </a:defRPr>
            </a:pPr>
            <a:r>
              <a:t>Mục Tiêu &amp; Tiêu Chí Đánh Giá</a:t>
            </a:r>
          </a:p>
          <a:p>
            <a:pPr>
              <a:spcBef>
                <a:spcPts val="500"/>
              </a:spcBef>
              <a:defRPr sz="1100">
                <a:solidFill>
                  <a:srgbClr val="2D3748"/>
                </a:solidFill>
                <a:latin typeface="Arial"/>
              </a:defRPr>
            </a:pPr>
            <a:r>
              <a:t>• Mục tiêu kỹ thuật cốt lõi:</a:t>
            </a:r>
            <a:br/>
            <a:r>
              <a:t>  1. Xây dựng mô hình cơ sở TF-IDF + Logistic Regression chuẩn xác.</a:t>
            </a:r>
            <a:br/>
            <a:r>
              <a:t>  2. Fine-tuning chuẩn mực mô hình google-bert/bert-base-uncased.</a:t>
            </a:r>
            <a:br/>
            <a:r>
              <a:t>  3. Đánh giá đối đầu khách quan trên Held-Out Test Set (3,949 mẫu).</a:t>
            </a:r>
            <a:br/>
            <a:r>
              <a:t>  4. Phân tích định tính 20 ca lỗi cực đoan (Error Analysis).</a:t>
            </a:r>
            <a:br/>
            <a:br/>
            <a:r>
              <a:t>• Tiêu chí đánh giá chất lượng:</a:t>
            </a:r>
            <a:br/>
            <a:r>
              <a:t>  - Macro F1-score &amp; Accuracy trên tập kiểm thử độc lập.</a:t>
            </a:r>
            <a:br/>
            <a:r>
              <a:t>  - Kiểm soát chống rò rỉ dữ liệu (Zero Data Leakage).</a:t>
            </a:r>
            <a:br/>
            <a:r>
              <a:t>  - Tính tái lập có kiểm soát (Seed cố định 42 xuyên suốt).</a:t>
            </a:r>
            <a:br/>
            <a:r>
              <a:t>  - Đóng gói ứng dụng Web Demo tương tác thời gian thực (Streamlit).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Arial"/>
              </a:defRPr>
            </a:pPr>
            <a:r>
              <a:t>02. Tiến Hóa Kiến Trúc: Từ RNN/LSTM Đến Transformer</a:t>
            </a:r>
          </a:p>
          <a:p>
            <a:pPr>
              <a:spcBef>
                <a:spcPts val="300"/>
              </a:spcBef>
              <a:defRPr sz="1100">
                <a:solidFill>
                  <a:srgbClr val="718096"/>
                </a:solidFill>
                <a:latin typeface="Arial"/>
              </a:defRPr>
            </a:pPr>
            <a:r>
              <a:t>Bước chuyển dịch mô hình tính toán trong Xử lý Ngôn ngữ Tự nhiên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91072"/>
            <a:ext cx="8229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718096"/>
                </a:solidFill>
                <a:latin typeface="Arial"/>
              </a:defRPr>
            </a:pPr>
            <a:r>
              <a:t>Đồ án môn học Trí tuệ Nhân tạo — ĐH Bách Khoa - ĐHĐN</a:t>
            </a:r>
          </a:p>
        </p:txBody>
      </p:sp>
      <p:pic>
        <p:nvPicPr>
          <p:cNvPr id="4" name="Picture 3" descr="slide5_shape_Google Shape;368;g3f87e06bbab_0_22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4" y="5897880"/>
            <a:ext cx="1097280" cy="594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defRPr sz="1400" b="1">
                <a:solidFill>
                  <a:srgbClr val="1A365D"/>
                </a:solidFill>
                <a:latin typeface="Arial"/>
              </a:defRPr>
            </a:pPr>
            <a:r>
              <a:t>Hạn Chế Cố Hữu Của RNN &amp; LSTM</a:t>
            </a:r>
          </a:p>
          <a:p>
            <a:pPr>
              <a:spcBef>
                <a:spcPts val="500"/>
              </a:spcBef>
              <a:defRPr sz="1100">
                <a:solidFill>
                  <a:srgbClr val="2D3748"/>
                </a:solidFill>
                <a:latin typeface="Arial"/>
              </a:defRPr>
            </a:pPr>
            <a:r>
              <a:t>• Điểm nghẽn xử lý tuần tự (Sequential Recurrence Bottleneck):</a:t>
            </a:r>
            <a:br/>
            <a:r>
              <a:t>  - Để tính trạng thái ẩn từ thứ t, bắt buộc phải đợi từ thứ t-1.</a:t>
            </a:r>
            <a:br/>
            <a:r>
              <a:t>  - Không thể tính toán song song theo chiều dài chuỗi trên GPU/TPU.</a:t>
            </a:r>
            <a:br/>
            <a:r>
              <a:t>  - Tốc độ huấn luyện chậm khi làm việc với ngữ liệu lớn.</a:t>
            </a:r>
            <a:br/>
            <a:br/>
            <a:r>
              <a:t>• Suy giảm thông tin ngữ cảnh xa (Vanishing Gradient):</a:t>
            </a:r>
            <a:br/>
            <a:r>
              <a:t>  - Qua các bước đệ quy dài, thông tin ở đầu câu bị suy giảm hoặc méo mó.</a:t>
            </a:r>
            <a:br/>
            <a:r>
              <a:t>  - Khó duy trì sự phụ thuộc giữa các từ cách xa nhau.</a:t>
            </a:r>
            <a:br/>
            <a:br/>
            <a:r>
              <a:t>• Hạn chế của BiLSTM:</a:t>
            </a:r>
            <a:br/>
            <a:r>
              <a:t>  - Chỉ ghép nối 2 mạng một chiều độc lập (trái sang + phải sang).</a:t>
            </a:r>
            <a:br/>
            <a:r>
              <a:t>  - Thiếu sự tương tác ngữ cảnh hai chiều sâu ở từng tầng.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defRPr sz="1400" b="1">
                <a:solidFill>
                  <a:srgbClr val="1A365D"/>
                </a:solidFill>
                <a:latin typeface="Arial"/>
              </a:defRPr>
            </a:pPr>
            <a:r>
              <a:t>Đột Phá Của Transformer (Vaswani et al., 2017)</a:t>
            </a:r>
          </a:p>
          <a:p>
            <a:pPr>
              <a:spcBef>
                <a:spcPts val="500"/>
              </a:spcBef>
              <a:defRPr sz="1100">
                <a:solidFill>
                  <a:srgbClr val="2D3748"/>
                </a:solidFill>
                <a:latin typeface="Arial"/>
              </a:defRPr>
            </a:pPr>
            <a:r>
              <a:t>• Loại bỏ hoàn toàn mạng đệ quy (No Recurrence):</a:t>
            </a:r>
            <a:br/>
            <a:r>
              <a:t>  - Xử lý đồng thời mọi token trên toàn bộ chiều dài chuỗi trong cùng một tầng.</a:t>
            </a:r>
            <a:br/>
            <a:r>
              <a:t>  - Tận dụng tối đa khả năng tăng tốc phần cứng song song.</a:t>
            </a:r>
            <a:br/>
            <a:br/>
            <a:r>
              <a:t>• Cơ chế Self-Attention (Tự chú ý):</a:t>
            </a:r>
            <a:br/>
            <a:r>
              <a:t>  - Kết nối trực tiếp bất kỳ cặp từ nào trong câu với độ dài đường truyền O(1).</a:t>
            </a:r>
            <a:br/>
            <a:r>
              <a:t>  - Triệt tiêu hiện tượng suy biến thông tin qua khoảng cách xa.</a:t>
            </a:r>
            <a:br/>
            <a:br/>
            <a:r>
              <a:t>• Mã hóa vị trí (Positional Encoding):</a:t>
            </a:r>
            <a:br/>
            <a:r>
              <a:t>  - Bổ sung thông tin trật tự cú pháp mà không cần bước tuần tự.</a:t>
            </a:r>
            <a:br/>
            <a:br/>
            <a:r>
              <a:t>• Nền tảng của kỷ nguyên mô hình ngôn ngữ lớn:</a:t>
            </a:r>
            <a:br/>
            <a:r>
              <a:t>  - Đặt cơ sở trực tiếp cho sự ra đời của BERT, RoBERTa và GPT.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Arial"/>
              </a:defRPr>
            </a:pPr>
            <a:r>
              <a:t>03. Kiến Trúc BERT &amp; Cơ Chế Multi-Head Self-Attention</a:t>
            </a:r>
          </a:p>
          <a:p>
            <a:pPr>
              <a:spcBef>
                <a:spcPts val="300"/>
              </a:spcBef>
              <a:defRPr sz="1100">
                <a:solidFill>
                  <a:srgbClr val="718096"/>
                </a:solidFill>
                <a:latin typeface="Arial"/>
              </a:defRPr>
            </a:pPr>
            <a:r>
              <a:t>Cấu tạo toán học của mô hình Bidirectional Encoder Representations from Transformers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91072"/>
            <a:ext cx="8229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718096"/>
                </a:solidFill>
                <a:latin typeface="Arial"/>
              </a:defRPr>
            </a:pPr>
            <a:r>
              <a:t>Đồ án môn học Trí tuệ Nhân tạo — ĐH Bách Khoa - ĐHĐN</a:t>
            </a:r>
          </a:p>
        </p:txBody>
      </p:sp>
      <p:pic>
        <p:nvPicPr>
          <p:cNvPr id="4" name="Picture 3" descr="slide5_shape_Google Shape;368;g3f87e06bbab_0_22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4" y="5897880"/>
            <a:ext cx="1097280" cy="594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defRPr sz="1400" b="1">
                <a:solidFill>
                  <a:srgbClr val="1A365D"/>
                </a:solidFill>
                <a:latin typeface="Arial"/>
              </a:defRPr>
            </a:pPr>
            <a:r>
              <a:t>Bản Chất Kiến Trúc BERT</a:t>
            </a:r>
          </a:p>
          <a:p>
            <a:pPr>
              <a:spcBef>
                <a:spcPts val="500"/>
              </a:spcBef>
              <a:defRPr sz="1100">
                <a:solidFill>
                  <a:srgbClr val="2D3748"/>
                </a:solidFill>
                <a:latin typeface="Arial"/>
              </a:defRPr>
            </a:pPr>
            <a:r>
              <a:t>• Chỉ sử dụng khối ENCODER của Transformer:</a:t>
            </a:r>
            <a:br/>
            <a:r>
              <a:t>  - Chuyên trách nhiệm vụ thấu hiểu ngôn ngữ (Language Understanding).</a:t>
            </a:r>
            <a:br/>
            <a:r>
              <a:t>  - Deeply Bidirectional: Nhìn đồng thời ngữ cảnh hai chiều tự do.</a:t>
            </a:r>
            <a:br/>
            <a:br/>
            <a:r>
              <a:t>• Cấu hình mô hình bert-base-uncased:</a:t>
            </a:r>
            <a:br/>
            <a:r>
              <a:t>  - 12 tầng Transformer Encoder (L=12)</a:t>
            </a:r>
            <a:br/>
            <a:r>
              <a:t>  - Kích thước không gian ẩn H=768, 12 Attention Heads (A=12)</a:t>
            </a:r>
            <a:br/>
            <a:r>
              <a:t>  - Xấp xỉ 110 triệu tham số tiền huấn luyện trên 3.3 tỷ từ.</a:t>
            </a:r>
            <a:br/>
            <a:br/>
            <a:r>
              <a:t>• Token đặc biệt:</a:t>
            </a:r>
            <a:br/>
            <a:r>
              <a:t>  - [CLS]: Đứng đầu mỗi chuỗi, vector ẩn làm đại diện phân loại.</a:t>
            </a:r>
            <a:br/>
            <a:r>
              <a:t>  - [SEP]: Phân tách câu và đánh dấu kết thúc chuỗi.</a:t>
            </a:r>
            <a:br/>
            <a:r>
              <a:t>  - WordPiece Tokenization: Từ điển 30,522 tokens, triệt tiêu lỗi OOV.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defRPr sz="1400" b="1">
                <a:solidFill>
                  <a:srgbClr val="1A365D"/>
                </a:solidFill>
                <a:latin typeface="Arial"/>
              </a:defRPr>
            </a:pPr>
            <a:r>
              <a:t>Cơ Chế Scaled Dot-Product Attention</a:t>
            </a:r>
          </a:p>
          <a:p>
            <a:pPr>
              <a:spcBef>
                <a:spcPts val="500"/>
              </a:spcBef>
              <a:defRPr sz="1100">
                <a:solidFill>
                  <a:srgbClr val="2D3748"/>
                </a:solidFill>
                <a:latin typeface="Arial"/>
              </a:defRPr>
            </a:pPr>
            <a:r>
              <a:t>• Công thức toán học cốt lõi:</a:t>
            </a:r>
            <a:br/>
            <a:r>
              <a:t>  Attention(Q, K, V) = softmax( (Q * K^T) / sqrt(d_k) ) * V</a:t>
            </a:r>
            <a:br/>
            <a:br/>
            <a:r>
              <a:t>• Bộ ba vector Query (Q), Key (K), Value (V):</a:t>
            </a:r>
            <a:br/>
            <a:r>
              <a:t>  - Query: Yêu cầu tìm kiếm thông tin của từ hiện tại.</a:t>
            </a:r>
            <a:br/>
            <a:r>
              <a:t>  - Key: Từ khóa chỉ mục đại diện của các từ trong câu.</a:t>
            </a:r>
            <a:br/>
            <a:r>
              <a:t>  - Value: Nội dung ngữ nghĩa thực sự mà từ mang theo.</a:t>
            </a:r>
            <a:br/>
            <a:br/>
            <a:r>
              <a:t>• Hệ số co giãn 1/sqrt(d_k):</a:t>
            </a:r>
            <a:br/>
            <a:r>
              <a:t>  - Ngăn tích vô hướng quá lớn làm bão hòa gradient tại Softmax.</a:t>
            </a:r>
            <a:br/>
            <a:br/>
            <a:r>
              <a:t>• Multi-Head Attention (12 Heads song song):</a:t>
            </a:r>
            <a:br/>
            <a:r>
              <a:t>  - Cho phép mô hình đồng thời chú ý vào nhiều khía cạnh khác nhau (cú pháp, đại từ, phủ định).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Arial"/>
              </a:defRPr>
            </a:pPr>
            <a:r>
              <a:t>04. Phân Tích Khám Phá Dữ Liệu (Data &amp; EDA)</a:t>
            </a:r>
          </a:p>
          <a:p>
            <a:pPr>
              <a:spcBef>
                <a:spcPts val="300"/>
              </a:spcBef>
              <a:defRPr sz="1100">
                <a:solidFill>
                  <a:srgbClr val="718096"/>
                </a:solidFill>
                <a:latin typeface="Arial"/>
              </a:defRPr>
            </a:pPr>
            <a:r>
              <a:t>Giai đoạn 02 (Data) theo AI Project Cycle — Kiểm soát chất lượng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91072"/>
            <a:ext cx="8229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718096"/>
                </a:solidFill>
                <a:latin typeface="Arial"/>
              </a:defRPr>
            </a:pPr>
            <a:r>
              <a:t>Đồ án môn học Trí tuệ Nhân tạo — ĐH Bách Khoa - ĐHĐN</a:t>
            </a:r>
          </a:p>
        </p:txBody>
      </p:sp>
      <p:pic>
        <p:nvPicPr>
          <p:cNvPr id="4" name="Picture 3" descr="slide5_shape_Google Shape;368;g3f87e06bbab_0_22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4" y="5897880"/>
            <a:ext cx="1097280" cy="594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defRPr sz="1400" b="1">
                <a:solidFill>
                  <a:srgbClr val="1A365D"/>
                </a:solidFill>
                <a:latin typeface="Arial"/>
              </a:defRPr>
            </a:pPr>
            <a:r>
              <a:t>Kiểm Toán Dữ Liệu &amp; Phân Chia Chống Rò Rỉ</a:t>
            </a:r>
          </a:p>
          <a:p>
            <a:pPr>
              <a:spcBef>
                <a:spcPts val="500"/>
              </a:spcBef>
              <a:defRPr sz="1100">
                <a:solidFill>
                  <a:srgbClr val="2D3748"/>
                </a:solidFill>
                <a:latin typeface="Arial"/>
              </a:defRPr>
            </a:pPr>
            <a:r>
              <a:t>• Dữ liệu thô ban đầu (data/dts_20k_raw.csv):</a:t>
            </a:r>
            <a:br/>
            <a:r>
              <a:t>  - 20,000 bài đánh giá Booking.com do giảng viên cung cấp.</a:t>
            </a:r>
            <a:br/>
            <a:r>
              <a:t>  - Loại 255 mẫu: 5 rỗng, 127 xung đột nhãn (20 text trùng cả 0 và 1), 123 trùng lặp hoàn toàn.</a:t>
            </a:r>
            <a:br/>
            <a:r>
              <a:t>  - Dữ liệu sạch: 19,745 mẫu (9,921 Negative - 50.25%, 9,824 Positive - 49.75%).</a:t>
            </a:r>
            <a:br/>
            <a:br/>
            <a:r>
              <a:t>• Phân chia Stratified Split (seed=42, Zero Leakage):</a:t>
            </a:r>
            <a:br/>
            <a:r>
              <a:t>  - Train Set: 13,821 mẫu (70.0%) | 6,945 Neg, 6,876 Pos.</a:t>
            </a:r>
            <a:br/>
            <a:r>
              <a:t>  - Val Set:    1,975 mẫu (10.0%) | 992 Neg, 983 Pos.</a:t>
            </a:r>
            <a:br/>
            <a:r>
              <a:t>  - Test Set:   3,949 mẫu (20.0%) | 1,984 Neg, 1,965 Pos.</a:t>
            </a:r>
            <a:br/>
            <a:r>
              <a:t>  - Xác nhận 0 mẫu trùng lặp giữa Train, Val và Test.</a:t>
            </a:r>
            <a:br/>
            <a:br/>
            <a:r>
              <a:t>• Thống kê độ dài token BERT (Train + Val Scope):</a:t>
            </a:r>
            <a:br/>
            <a:r>
              <a:t>  - Median: 30 tokens | Mean: 42.33 | p90: 94 | p95: 121 | Max: 425.</a:t>
            </a:r>
            <a:br/>
            <a:r>
              <a:t>  - Quyết định: Chọn MAX_LENGTH = 128 bảo toàn 96.07% văn bản, tối ưu chi phí O(L^2).</a:t>
            </a:r>
          </a:p>
        </p:txBody>
      </p:sp>
      <p:pic>
        <p:nvPicPr>
          <p:cNvPr id="6" name="Picture 5" descr="token_length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Arial"/>
              </a:defRPr>
            </a:pPr>
            <a:r>
              <a:t>05. Quy Trình Nghiên Cứu Chuẩn Mực (Pipeline)</a:t>
            </a:r>
          </a:p>
          <a:p>
            <a:pPr>
              <a:spcBef>
                <a:spcPts val="300"/>
              </a:spcBef>
              <a:defRPr sz="1100">
                <a:solidFill>
                  <a:srgbClr val="718096"/>
                </a:solidFill>
                <a:latin typeface="Arial"/>
              </a:defRPr>
            </a:pPr>
            <a:r>
              <a:t>Triển khai độc lập từ đầu, tuân thủ nghiêm ngặt chuẩn mực AI Project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91072"/>
            <a:ext cx="8229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718096"/>
                </a:solidFill>
                <a:latin typeface="Arial"/>
              </a:defRPr>
            </a:pPr>
            <a:r>
              <a:t>Đồ án môn học Trí tuệ Nhân tạo — ĐH Bách Khoa - ĐHĐN</a:t>
            </a:r>
          </a:p>
        </p:txBody>
      </p:sp>
      <p:pic>
        <p:nvPicPr>
          <p:cNvPr id="4" name="Picture 3" descr="slide5_shape_Google Shape;368;g3f87e06bbab_0_22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4" y="5897880"/>
            <a:ext cx="1097280" cy="594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defRPr sz="1400" b="1">
                <a:solidFill>
                  <a:srgbClr val="1A365D"/>
                </a:solidFill>
                <a:latin typeface="Arial"/>
              </a:defRPr>
            </a:pPr>
            <a:r>
              <a:t>1. Dữ Liệu &amp; Tiền Xử Lý</a:t>
            </a:r>
          </a:p>
          <a:p>
            <a:pPr>
              <a:spcBef>
                <a:spcPts val="500"/>
              </a:spcBef>
              <a:defRPr sz="1100">
                <a:solidFill>
                  <a:srgbClr val="2D3748"/>
                </a:solidFill>
                <a:latin typeface="Arial"/>
              </a:defRPr>
            </a:pPr>
            <a:r>
              <a:t>• Tiền xử lý bảo toàn ngữ pháp:</a:t>
            </a:r>
            <a:br/>
            <a:r>
              <a:t>  - Xóa khoảng trắng thừa.</a:t>
            </a:r>
            <a:br/>
            <a:r>
              <a:t>  - GIỮ NGUYÊN từ phủ định ('not', 'no', 'never').</a:t>
            </a:r>
            <a:br/>
            <a:r>
              <a:t>  - GIỮ NGUYÊN cấu trúc câu &amp; dấu câu cho Positional Encoding.</a:t>
            </a:r>
            <a:br/>
            <a:br/>
            <a:r>
              <a:t>• Kiểm toán dữ liệu:</a:t>
            </a:r>
            <a:br/>
            <a:r>
              <a:t>  - Lọc bỏ 255 mẫu lỗi/trùng/xung đột trước khi split.</a:t>
            </a:r>
            <a:br/>
            <a:br/>
            <a:r>
              <a:t>• Stratified Split (Seed 42):</a:t>
            </a:r>
            <a:br/>
            <a:r>
              <a:t>  - 70% Train / 10% Val / 20% Test.</a:t>
            </a:r>
            <a:br/>
            <a:r>
              <a:t>  - Niêm phong tuyệt đối tập Test.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defRPr sz="1400" b="1">
                <a:solidFill>
                  <a:srgbClr val="1A365D"/>
                </a:solidFill>
                <a:latin typeface="Arial"/>
              </a:defRPr>
            </a:pPr>
            <a:r>
              <a:t>2. Mô Hình Hóa (Modeling)</a:t>
            </a:r>
          </a:p>
          <a:p>
            <a:pPr>
              <a:spcBef>
                <a:spcPts val="500"/>
              </a:spcBef>
              <a:defRPr sz="1100">
                <a:solidFill>
                  <a:srgbClr val="2D3748"/>
                </a:solidFill>
                <a:latin typeface="Arial"/>
              </a:defRPr>
            </a:pPr>
            <a:r>
              <a:t>• Mô hình cơ sở (Baseline):</a:t>
            </a:r>
            <a:br/>
            <a:r>
              <a:t>  - TF-IDF (10,000 unigram + bigram).</a:t>
            </a:r>
            <a:br/>
            <a:r>
              <a:t>  - Logistic Regression (L-BFGS).</a:t>
            </a:r>
            <a:br/>
            <a:r>
              <a:t>  - Thiết lập mốc so sánh tối thiểu.</a:t>
            </a:r>
            <a:br/>
            <a:br/>
            <a:r>
              <a:t>• Mô hình BERT Fine-Tuning:</a:t>
            </a:r>
            <a:br/>
            <a:r>
              <a:t>  - google-bert/bert-base-uncased.</a:t>
            </a:r>
            <a:br/>
            <a:r>
              <a:t>  - Full Fine-Tuning mở khóa 110M tham số.</a:t>
            </a:r>
            <a:br/>
            <a:r>
              <a:t>  - AdamW (lr=2e-5, weight decay=0.01).</a:t>
            </a:r>
            <a:br/>
            <a:r>
              <a:t>  - Linear Warmup Scheduler (10% steps).</a:t>
            </a:r>
            <a:br/>
            <a:r>
              <a:t>  - Checkpoint theo Validation Macro F1.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defRPr sz="1400" b="1">
                <a:solidFill>
                  <a:srgbClr val="1A365D"/>
                </a:solidFill>
                <a:latin typeface="Arial"/>
              </a:defRPr>
            </a:pPr>
            <a:r>
              <a:t>3. Đánh Giá &amp; Triển Khai</a:t>
            </a:r>
          </a:p>
          <a:p>
            <a:pPr>
              <a:spcBef>
                <a:spcPts val="500"/>
              </a:spcBef>
              <a:defRPr sz="1100">
                <a:solidFill>
                  <a:srgbClr val="2D3748"/>
                </a:solidFill>
                <a:latin typeface="Arial"/>
              </a:defRPr>
            </a:pPr>
            <a:r>
              <a:t>• Đánh giá đối đầu độc lập:</a:t>
            </a:r>
            <a:br/>
            <a:r>
              <a:t>  - Chạy trên Held-Out Test Set (3,949 mẫu) đúng 1 lần duy nhất.</a:t>
            </a:r>
            <a:br/>
            <a:r>
              <a:t>  - Đo lường Accuracy, Precision, Recall, Macro F1, Weighted F1, Tốc độ suy luận.</a:t>
            </a:r>
            <a:br/>
            <a:br/>
            <a:r>
              <a:t>• Phân tích định tính ca lỗi:</a:t>
            </a:r>
            <a:br/>
            <a:r>
              <a:t>  - Trích xuất 20 ca lỗi có độ tin cậy cao nhất (10 FP, 10 FN).</a:t>
            </a:r>
            <a:br/>
            <a:r>
              <a:t>  - Khảo sát nguyên nhân ngôn ngữ học.</a:t>
            </a:r>
            <a:br/>
            <a:br/>
            <a:r>
              <a:t>• Triển khai thực tế:</a:t>
            </a:r>
            <a:br/>
            <a:r>
              <a:t>  - Demo tương tác Streamlit thời gian thực.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Arial"/>
              </a:defRPr>
            </a:pPr>
            <a:r>
              <a:t>06. Mô Hình Cơ Sở: TF-IDF + Logistic Regression</a:t>
            </a:r>
          </a:p>
          <a:p>
            <a:pPr>
              <a:spcBef>
                <a:spcPts val="300"/>
              </a:spcBef>
              <a:defRPr sz="1100">
                <a:solidFill>
                  <a:srgbClr val="718096"/>
                </a:solidFill>
                <a:latin typeface="Arial"/>
              </a:defRPr>
            </a:pPr>
            <a:r>
              <a:t>Tuân thủ triết lý AI Project Cycle: 'Start from simple to more complex models'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91072"/>
            <a:ext cx="8229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718096"/>
                </a:solidFill>
                <a:latin typeface="Arial"/>
              </a:defRPr>
            </a:pPr>
            <a:r>
              <a:t>Đồ án môn học Trí tuệ Nhân tạo — ĐH Bách Khoa - ĐHĐN</a:t>
            </a:r>
          </a:p>
        </p:txBody>
      </p:sp>
      <p:pic>
        <p:nvPicPr>
          <p:cNvPr id="4" name="Picture 3" descr="slide5_shape_Google Shape;368;g3f87e06bbab_0_22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4" y="5897880"/>
            <a:ext cx="1097280" cy="594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defRPr sz="1400" b="1">
                <a:solidFill>
                  <a:srgbClr val="1A365D"/>
                </a:solidFill>
                <a:latin typeface="Arial"/>
              </a:defRPr>
            </a:pPr>
            <a:r>
              <a:t>Cấu Hình Kỹ Thuật Baseline</a:t>
            </a:r>
          </a:p>
          <a:p>
            <a:pPr>
              <a:spcBef>
                <a:spcPts val="500"/>
              </a:spcBef>
              <a:defRPr sz="1100">
                <a:solidFill>
                  <a:srgbClr val="2D3748"/>
                </a:solidFill>
                <a:latin typeface="Arial"/>
              </a:defRPr>
            </a:pPr>
            <a:r>
              <a:t>• Vai trò của mô hình cơ sở:</a:t>
            </a:r>
            <a:br/>
            <a:r>
              <a:t>  - Thiết lập chuẩn đối sánh tối thiểu theo Slide 9 AI Project Cycle.</a:t>
            </a:r>
            <a:br/>
            <a:r>
              <a:t>  - Trả lời câu hỏi: Liệu Transformer phức tạp có thực sự vượt trội hơn giải pháp đơn giản?</a:t>
            </a:r>
            <a:br/>
            <a:br/>
            <a:r>
              <a:t>• Cấu hình Pipeline:</a:t>
            </a:r>
            <a:br/>
            <a:r>
              <a:t>  - TfidfVectorizer: ngram_range=(1, 2), max_features=10000, sublinear_tf=True.</a:t>
            </a:r>
            <a:br/>
            <a:r>
              <a:t>  - LogisticRegression: C=1.0, max_iter=1000, solver='lbfgs'.</a:t>
            </a:r>
            <a:br/>
            <a:br/>
            <a:r>
              <a:t>• Ưu điểm &amp; Nhược điểm:</a:t>
            </a:r>
            <a:br/>
            <a:r>
              <a:t>  - Ưu điểm: Huấn luyện cực nhanh (0.68s), suy luận siêu tốc (~28,784 mẫu/s).</a:t>
            </a:r>
            <a:br/>
            <a:r>
              <a:t>  - Nhược điểm: Giả định 'Túi từ' (Bag-of-Words) bỏ qua trật tự từ và các cấu trúc đảo ngữ phức tạp.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defRPr sz="1400" b="1">
                <a:solidFill>
                  <a:srgbClr val="1A365D"/>
                </a:solidFill>
                <a:latin typeface="Arial"/>
              </a:defRPr>
            </a:pPr>
            <a:r>
              <a:t>Kết Quả Thực Nghiệm Baseline</a:t>
            </a:r>
          </a:p>
          <a:p>
            <a:pPr>
              <a:spcBef>
                <a:spcPts val="500"/>
              </a:spcBef>
              <a:defRPr sz="1100">
                <a:solidFill>
                  <a:srgbClr val="2D3748"/>
                </a:solidFill>
                <a:latin typeface="Arial"/>
              </a:defRPr>
            </a:pPr>
            <a:r>
              <a:t>• Đánh giá trên Held-Out Test Set (3,949 mẫu):</a:t>
            </a:r>
            <a:br/>
            <a:br/>
            <a:r>
              <a:t>  - Test Accuracy:        81.94%</a:t>
            </a:r>
            <a:br/>
            <a:r>
              <a:t>  - Macro Precision:      0.8208</a:t>
            </a:r>
            <a:br/>
            <a:r>
              <a:t>  - Macro Recall:         0.8193</a:t>
            </a:r>
            <a:br/>
            <a:r>
              <a:t>  - Macro F1-Score:       0.8192</a:t>
            </a:r>
            <a:br/>
            <a:r>
              <a:t>  - Weighted F1-Score:    0.8192</a:t>
            </a:r>
            <a:br/>
            <a:r>
              <a:t>  - Thời gian suy luận:   0.137 giây (~28,817 mẫu/s)</a:t>
            </a:r>
            <a:br/>
            <a:br/>
            <a:r>
              <a:t>• Ma trận nhầm lẫn Test Set:</a:t>
            </a:r>
            <a:br/>
            <a:r>
              <a:t>  - True Negatives (TN):  1,691 | False Positives (FP): 293</a:t>
            </a:r>
            <a:br/>
            <a:r>
              <a:t>  - False Negatives (FN): 420   | True Positives (TP):  1,545</a:t>
            </a:r>
            <a:br/>
            <a:r>
              <a:t>  - Tổng số ca dự đoán sai: 713 / 3,949 mẫu (18.06%)</a:t>
            </a:r>
            <a:br/>
            <a:br/>
            <a:r>
              <a:t>• Kết quả phát triển trên Validation Set (1,975 mẫu):</a:t>
            </a:r>
            <a:br/>
            <a:r>
              <a:t>  - Val Accuracy: 81.01% | Val Macro F1: 0.8098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Arial"/>
              </a:defRPr>
            </a:pPr>
            <a:r>
              <a:t>07. Phân Tích Sự Cố Mô Hình Cũ &amp; Khác Biệt Pipeline Mới</a:t>
            </a:r>
          </a:p>
          <a:p>
            <a:pPr>
              <a:spcBef>
                <a:spcPts val="300"/>
              </a:spcBef>
              <a:defRPr sz="1100">
                <a:solidFill>
                  <a:srgbClr val="718096"/>
                </a:solidFill>
                <a:latin typeface="Arial"/>
              </a:defRPr>
            </a:pPr>
            <a:r>
              <a:t>Khảo sát và audit chuyên sâu tài liệu môn học (DL_Model.ipynb)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91072"/>
            <a:ext cx="8229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718096"/>
                </a:solidFill>
                <a:latin typeface="Arial"/>
              </a:defRPr>
            </a:pPr>
            <a:r>
              <a:t>Đồ án môn học Trí tuệ Nhân tạo — ĐH Bách Khoa - ĐHĐN</a:t>
            </a:r>
          </a:p>
        </p:txBody>
      </p:sp>
      <p:pic>
        <p:nvPicPr>
          <p:cNvPr id="4" name="Picture 3" descr="slide5_shape_Google Shape;368;g3f87e06bbab_0_22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4" y="5897880"/>
            <a:ext cx="1097280" cy="59436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746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Tiêu Chí Kỹ Thuật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Triển Khai Cũ (DL_Model.ipynb - 65.20%)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Pipeline Mới Của Nhóm (84.83%)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A365D"/>
                          </a:solidFill>
                          <a:latin typeface="Arial"/>
                        </a:defRPr>
                      </a:pPr>
                      <a:r>
                        <a:t>Đồng bộ Từ vựng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Preprocess cased ghép với model uncased -&gt; Lệch token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Đồng bộ tuyệt đối: Tokenizer và Model đều uncased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A365D"/>
                          </a:solidFill>
                          <a:latin typeface="Arial"/>
                        </a:defRPr>
                      </a:pPr>
                      <a:r>
                        <a:t>Cơ chế Huấn luyện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Đóng băng Encoder (trainable=False) -&gt; Feature Extraction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Mở khóa toàn bộ tham số -&gt; True Fine-Tuning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A365D"/>
                          </a:solidFill>
                          <a:latin typeface="Arial"/>
                        </a:defRPr>
                      </a:pPr>
                      <a:r>
                        <a:t>Tốc độ học (LR)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1e-3 (quá lớn gấp 50 lần, phá hủy trọng số tiền huấn luyện)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2e-5 kết hợp Linear Warmup Scheduler chuẩn mực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A365D"/>
                          </a:solidFill>
                          <a:latin typeface="Arial"/>
                        </a:defRPr>
                      </a:pPr>
                      <a:r>
                        <a:t>Kiến trúc Head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5 tầng Dense sâu liên tiếp, loại bỏ Dropout -&gt; Overfit nặng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1 tầng Linear duy nhất + Dropout(0.1) tinh gọn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A365D"/>
                          </a:solidFill>
                          <a:latin typeface="Arial"/>
                        </a:defRPr>
                      </a:pPr>
                      <a:r>
                        <a:t>Kiểm soát Epoch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100 epochs cố định (Train Acc 97% nhưng Test Acc sụp đổ 65%)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3 epochs, chọn Checkpoint theo Validation Macro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Arial"/>
              </a:defRPr>
            </a:pPr>
            <a:r>
              <a:t>08. Quá Trình Huấn Luyện &amp; Tinh Chỉnh BERT</a:t>
            </a:r>
          </a:p>
          <a:p>
            <a:pPr>
              <a:spcBef>
                <a:spcPts val="300"/>
              </a:spcBef>
              <a:defRPr sz="1100">
                <a:solidFill>
                  <a:srgbClr val="718096"/>
                </a:solidFill>
                <a:latin typeface="Arial"/>
              </a:defRPr>
            </a:pPr>
            <a:r>
              <a:t>Động lực học tập qua 3 epochs và cơ chế lựa chọn Checkpoint tối ưu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91072"/>
            <a:ext cx="8229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718096"/>
                </a:solidFill>
                <a:latin typeface="Arial"/>
              </a:defRPr>
            </a:pPr>
            <a:r>
              <a:t>Đồ án môn học Trí tuệ Nhân tạo — ĐH Bách Khoa - ĐHĐN</a:t>
            </a:r>
          </a:p>
        </p:txBody>
      </p:sp>
      <p:pic>
        <p:nvPicPr>
          <p:cNvPr id="4" name="Picture 3" descr="slide5_shape_Google Shape;368;g3f87e06bbab_0_22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4" y="5897880"/>
            <a:ext cx="1097280" cy="594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defRPr sz="1400" b="1">
                <a:solidFill>
                  <a:srgbClr val="1A365D"/>
                </a:solidFill>
                <a:latin typeface="Arial"/>
              </a:defRPr>
            </a:pPr>
            <a:r>
              <a:t>Thông Số Huấn Luyện &amp; Động Lực Học</a:t>
            </a:r>
          </a:p>
          <a:p>
            <a:pPr>
              <a:spcBef>
                <a:spcPts val="500"/>
              </a:spcBef>
              <a:defRPr sz="1100">
                <a:solidFill>
                  <a:srgbClr val="2D3748"/>
                </a:solidFill>
                <a:latin typeface="Arial"/>
              </a:defRPr>
            </a:pPr>
            <a:r>
              <a:t>• Môi trường &amp; Thời gian thực thi:</a:t>
            </a:r>
            <a:br/>
            <a:r>
              <a:t>  - Huấn luyện trên CPU đa lõi (PyTorch 2.14.0+cpu).</a:t>
            </a:r>
            <a:br/>
            <a:r>
              <a:t>  - 3 Epochs (2,592 steps, batch size=16).</a:t>
            </a:r>
            <a:br/>
            <a:r>
              <a:t>  - Tổng thời gian huấn luyện: 15,617.19s (~4.34 giờ).</a:t>
            </a:r>
            <a:br/>
            <a:br/>
            <a:r>
              <a:t>• Tiến trình qua từng Epoch (bert_training_history.json):</a:t>
            </a:r>
            <a:br/>
            <a:r>
              <a:t>  - Epoch 1: Train Loss 0.4077 | Val Loss 0.3541 | Val F1 0.8359</a:t>
            </a:r>
            <a:br/>
            <a:r>
              <a:t>  - Epoch 2: Train Loss 0.2885 | Val Loss 0.3702 | Val F1 0.8384</a:t>
            </a:r>
            <a:br/>
            <a:r>
              <a:t>  - Epoch 3: Train Loss 0.1983 | Val Loss 0.4503 | Val F1 0.8389</a:t>
            </a:r>
            <a:br/>
            <a:br/>
            <a:r>
              <a:t>• Giải thích hiện tượng Epoch 3 (Val Loss tăng vs Val F1 đạt đỉnh):</a:t>
            </a:r>
            <a:br/>
            <a:r>
              <a:t>  - Cross-Entropy phạt nặng xác suất ở một số mẫu biên/nhiễu nhãn.</a:t>
            </a:r>
            <a:br/>
            <a:r>
              <a:t>  - Phần lớn mẫu được phân loại chuẩn xác hơn -&gt; Macro F1 đạt đỉnh 0.8389.</a:t>
            </a:r>
            <a:br/>
            <a:r>
              <a:t>  - Lựa chọn Checkpoint theo Validation Macro F1 (checkpoint-2592) là hoàn toàn chuẩn xác.</a:t>
            </a:r>
          </a:p>
        </p:txBody>
      </p:sp>
      <p:pic>
        <p:nvPicPr>
          <p:cNvPr id="6" name="Picture 5" descr="training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Arial"/>
              </a:defRPr>
            </a:pPr>
            <a:r>
              <a:t>09. Bảng So Sánh Kết Quả Thực Nghiệm Đối Đầu</a:t>
            </a:r>
          </a:p>
          <a:p>
            <a:pPr>
              <a:spcBef>
                <a:spcPts val="300"/>
              </a:spcBef>
              <a:defRPr sz="1100">
                <a:solidFill>
                  <a:srgbClr val="718096"/>
                </a:solidFill>
                <a:latin typeface="Arial"/>
              </a:defRPr>
            </a:pPr>
            <a:r>
              <a:t>Đánh giá độc lập trên cùng tập kiểm thử Test Set (3,949 mẫu)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91072"/>
            <a:ext cx="8229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718096"/>
                </a:solidFill>
                <a:latin typeface="Arial"/>
              </a:defRPr>
            </a:pPr>
            <a:r>
              <a:t>Đồ án môn học Trí tuệ Nhân tạo — ĐH Bách Khoa - ĐHĐN</a:t>
            </a:r>
          </a:p>
        </p:txBody>
      </p:sp>
      <p:pic>
        <p:nvPicPr>
          <p:cNvPr id="4" name="Picture 3" descr="slide5_shape_Google Shape;368;g3f87e06bbab_0_22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4" y="5897880"/>
            <a:ext cx="1097280" cy="59436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Phương Pháp / Mô Hình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Nguồn / Phân Loại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TF-IDF + 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Baseline mới của nhóm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81.94%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0.8208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0.8193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0.8192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A365D"/>
                          </a:solidFill>
                          <a:latin typeface="Arial"/>
                        </a:defRPr>
                      </a:pPr>
                      <a:r>
                        <a:t>Fine-Tuned BERT (Ours)</a:t>
                      </a:r>
                    </a:p>
                  </a:txBody>
                  <a:tcPr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A365D"/>
                          </a:solidFill>
                          <a:latin typeface="Arial"/>
                        </a:defRPr>
                      </a:pPr>
                      <a:r>
                        <a:t>Mô hình chính mới (Nhóm)</a:t>
                      </a:r>
                    </a:p>
                  </a:txBody>
                  <a:tcPr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365D"/>
                          </a:solidFill>
                          <a:latin typeface="Arial"/>
                        </a:defRPr>
                      </a:pPr>
                      <a:r>
                        <a:t>84.83%</a:t>
                      </a:r>
                    </a:p>
                  </a:txBody>
                  <a:tcPr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365D"/>
                          </a:solidFill>
                          <a:latin typeface="Arial"/>
                        </a:defRPr>
                      </a:pPr>
                      <a:r>
                        <a:t>0.8486</a:t>
                      </a:r>
                    </a:p>
                  </a:txBody>
                  <a:tcPr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365D"/>
                          </a:solidFill>
                          <a:latin typeface="Arial"/>
                        </a:defRPr>
                      </a:pPr>
                      <a:r>
                        <a:t>0.8482</a:t>
                      </a:r>
                    </a:p>
                  </a:txBody>
                  <a:tcPr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365D"/>
                          </a:solidFill>
                          <a:latin typeface="Arial"/>
                        </a:defRPr>
                      </a:pPr>
                      <a:r>
                        <a:t>0.8483</a:t>
                      </a:r>
                    </a:p>
                  </a:txBody>
                  <a:tcPr>
                    <a:solidFill>
                      <a:srgbClr val="EBF8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NNLM (Google Embedding)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Tham khảo (DL_Model.ipynb)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79.00%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Not reported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Not reported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Not reported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BiLSTM (2-layer)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Tham khảo (DL_Model.ipynb)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75.00%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Not reported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Not reported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Not reported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Old 'BERT' (Triển khai lỗi)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Tham khảo (DL_Model.ipynb)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65.20%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Not reported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Not reported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748"/>
                          </a:solidFill>
                          <a:latin typeface="Arial"/>
                        </a:defRPr>
                      </a:pPr>
                      <a:r>
                        <a:t>Not reported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715000"/>
            <a:ext cx="1069848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spcBef>
                <a:spcPts val="500"/>
              </a:spcBef>
              <a:defRPr sz="1100">
                <a:solidFill>
                  <a:srgbClr val="2D3748"/>
                </a:solidFill>
                <a:latin typeface="Arial"/>
              </a:defRPr>
            </a:pPr>
            <a:r>
              <a:t>• KẾT LUẬN THỰC NGHIỆM: Fine-Tuned BERT vượt trội Baseline +2.89% Accuracy và +0.0291 Macro F1 trên cùng tập Test Set.</a:t>
            </a:r>
            <a:br/>
            <a:r>
              <a:t>• Phục hồi hoàn toàn năng lực mô hình: Cải thiện +19.63 điểm phần trăm so với triển khai cũ trong DL_Model.ipynb (65.20%).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Arial"/>
              </a:defRPr>
            </a:pPr>
            <a:r>
              <a:t>10. Ma Trận Nhầm Lẫn &amp; So Sánh Chi Tiết Từng Lớp</a:t>
            </a:r>
          </a:p>
          <a:p>
            <a:pPr>
              <a:spcBef>
                <a:spcPts val="300"/>
              </a:spcBef>
              <a:defRPr sz="1100">
                <a:solidFill>
                  <a:srgbClr val="718096"/>
                </a:solidFill>
                <a:latin typeface="Arial"/>
              </a:defRPr>
            </a:pPr>
            <a:r>
              <a:t>Đánh giá chi tiết True/False Positives và Negatives trên 3,949 mẫu Test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91072"/>
            <a:ext cx="8229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718096"/>
                </a:solidFill>
                <a:latin typeface="Arial"/>
              </a:defRPr>
            </a:pPr>
            <a:r>
              <a:t>Đồ án môn học Trí tuệ Nhân tạo — ĐH Bách Khoa - ĐHĐN</a:t>
            </a:r>
          </a:p>
        </p:txBody>
      </p:sp>
      <p:pic>
        <p:nvPicPr>
          <p:cNvPr id="4" name="Picture 3" descr="slide5_shape_Google Shape;368;g3f87e06bbab_0_22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4" y="5897880"/>
            <a:ext cx="1097280" cy="594360"/>
          </a:xfrm>
          <a:prstGeom prst="rect">
            <a:avLst/>
          </a:prstGeom>
        </p:spPr>
      </p:pic>
      <p:pic>
        <p:nvPicPr>
          <p:cNvPr id="5" name="Picture 4" descr="baseline_test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5120640" cy="3931920"/>
          </a:xfrm>
          <a:prstGeom prst="rect">
            <a:avLst/>
          </a:prstGeom>
        </p:spPr>
      </p:pic>
      <p:pic>
        <p:nvPicPr>
          <p:cNvPr id="6" name="Picture 5" descr="bert_test_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71600"/>
            <a:ext cx="5212080" cy="3931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440680"/>
            <a:ext cx="106984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defRPr sz="1400" b="1">
                <a:solidFill>
                  <a:srgbClr val="1A365D"/>
                </a:solidFill>
                <a:latin typeface="Arial"/>
              </a:defRPr>
            </a:pPr>
            <a:r>
              <a:t>Phân Tích Chi Tiết Ma Trận Nhầm Lẫn</a:t>
            </a:r>
          </a:p>
          <a:p>
            <a:pPr>
              <a:spcBef>
                <a:spcPts val="500"/>
              </a:spcBef>
              <a:defRPr sz="1100">
                <a:solidFill>
                  <a:srgbClr val="2D3748"/>
                </a:solidFill>
                <a:latin typeface="Arial"/>
              </a:defRPr>
            </a:pPr>
            <a:r>
              <a:t>• So sánh thành phần dự đoán (BERT vs. Baseline):</a:t>
            </a:r>
            <a:br/>
            <a:r>
              <a:t>  - True Negatives: 1,711 vs. 1,691 (BERT nhận diện chính xác nhiều hơn 20 mẫu tiêu cực).</a:t>
            </a:r>
            <a:br/>
            <a:r>
              <a:t>  - True Positives: 1,639 vs. 1,545 (BERT nhận diện chính xác nhiều hơn 94 mẫu tích cực).</a:t>
            </a:r>
            <a:br/>
            <a:r>
              <a:t>  - False Negatives: 326 vs. 420 (BERT GIẢM MẠNH 94 ca bỏ sót tích cực, giảm 22.38% số ca FN!).</a:t>
            </a:r>
            <a:br/>
            <a:r>
              <a:t>  - Tổng số lỗi dự đoán: BERT chỉ mắc 599 lỗi so với 713 lỗi của Baseline (Giảm tổng cộng 114 ca lỗi).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Arial"/>
              </a:defRPr>
            </a:pPr>
            <a:r>
              <a:t>11. Báo Cáo Phân Tích Lỗi Định Tính (Qualitative Error Analysis)</a:t>
            </a:r>
          </a:p>
          <a:p>
            <a:pPr>
              <a:spcBef>
                <a:spcPts val="300"/>
              </a:spcBef>
              <a:defRPr sz="1100">
                <a:solidFill>
                  <a:srgbClr val="718096"/>
                </a:solidFill>
                <a:latin typeface="Arial"/>
              </a:defRPr>
            </a:pPr>
            <a:r>
              <a:t>Khảo sát định tính mẫu 20 ca lỗi có độ tin cậy cao nhất (10 FP, 10 FN) của BERT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91072"/>
            <a:ext cx="8229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718096"/>
                </a:solidFill>
                <a:latin typeface="Arial"/>
              </a:defRPr>
            </a:pPr>
            <a:r>
              <a:t>Đồ án môn học Trí tuệ Nhân tạo — ĐH Bách Khoa - ĐHĐN</a:t>
            </a:r>
          </a:p>
        </p:txBody>
      </p:sp>
      <p:pic>
        <p:nvPicPr>
          <p:cNvPr id="4" name="Picture 3" descr="slide5_shape_Google Shape;368;g3f87e06bbab_0_22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4" y="5897880"/>
            <a:ext cx="1097280" cy="594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defRPr sz="1400" b="1">
                <a:solidFill>
                  <a:srgbClr val="1A365D"/>
                </a:solidFill>
                <a:latin typeface="Arial"/>
              </a:defRPr>
            </a:pPr>
            <a:r>
              <a:t>Phân Bố Nguyên Nhân Trong Mẫu Khảo Sát</a:t>
            </a:r>
          </a:p>
          <a:p>
            <a:pPr>
              <a:spcBef>
                <a:spcPts val="500"/>
              </a:spcBef>
              <a:defRPr sz="1100">
                <a:solidFill>
                  <a:srgbClr val="2D3748"/>
                </a:solidFill>
                <a:latin typeface="Arial"/>
              </a:defRPr>
            </a:pPr>
            <a:r>
              <a:t>• Phương pháp khảo sát:</a:t>
            </a:r>
            <a:br/>
            <a:r>
              <a:t>  - Trích xuất 20 ca lỗi có confidence cao nhất (&gt; 99.3%) tại artifacts/metrics/error_cases.json.</a:t>
            </a:r>
            <a:br/>
            <a:r>
              <a:t>  - Lưu ý: Đây là mẫu ca lỗi cực đoan, không suy rộng cho toàn bộ 599 ca lỗi.</a:t>
            </a:r>
            <a:br/>
            <a:br/>
            <a:r>
              <a:t>• Thống kê hiện tượng trên mẫu 20 ca khảo sát:</a:t>
            </a:r>
            <a:br/>
            <a:r>
              <a:t>  - Cảm xúc pha trộn (Mixed Sentiment): 15 / 20 ca (75.0%)</a:t>
            </a:r>
            <a:br/>
            <a:r>
              <a:t>    (Khách vừa khen vừa chê, ép vào 1 nhãn nhị phân gây mơ hồ cố hữu).</a:t>
            </a:r>
            <a:br/>
            <a:r>
              <a:t>  - Dấu hiệu mơ hồ / nhiễu nhãn (Label Noise): 8 / 20 ca (40.0%)</a:t>
            </a:r>
            <a:br/>
            <a:r>
              <a:t>    (Văn bản hoàn toàn khen hoặc chê nhưng nhãn dữ liệu bị đối lập).</a:t>
            </a:r>
            <a:br/>
            <a:r>
              <a:t>  - Cấu trúc phủ định / nhượng bộ: 8 / 20 ca (40.0%)</a:t>
            </a:r>
            <a:br/>
            <a:r>
              <a:t>  - Tác động thẻ biểu mẫu ('No Positive'): 6 / 20 ca (30.0%)</a:t>
            </a:r>
            <a:br/>
            <a:r>
              <a:t>  - Thách thức suy luận ngữ cảnh sâu: 1 / 20 ca (5.0%)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defRPr sz="1400" b="1">
                <a:solidFill>
                  <a:srgbClr val="1A365D"/>
                </a:solidFill>
                <a:latin typeface="Arial"/>
              </a:defRPr>
            </a:pPr>
            <a:r>
              <a:t>Hiện Tượng Cắt Cụt &amp; Trả Lời RQ3</a:t>
            </a:r>
          </a:p>
          <a:p>
            <a:pPr>
              <a:spcBef>
                <a:spcPts val="500"/>
              </a:spcBef>
              <a:defRPr sz="1100">
                <a:solidFill>
                  <a:srgbClr val="2D3748"/>
                </a:solidFill>
                <a:latin typeface="Arial"/>
              </a:defRPr>
            </a:pPr>
            <a:r>
              <a:t>• Đo lường hiện tượng cắt cụt văn bản (Truncation):</a:t>
            </a:r>
            <a:br/>
            <a:r>
              <a:t>  - Số ca bị cắt cụt trong mẫu 20 ca lỗi: 0 / 20 ca (0%).</a:t>
            </a:r>
            <a:br/>
            <a:r>
              <a:t>  - Độ dài token dao động từ 6 đến 126 tokens (đều &lt;= 128 tokens).</a:t>
            </a:r>
            <a:br/>
            <a:r>
              <a:t>  - Kết luận: Cắt cụt không phải là nguyên nhân gây ra 20 ca lỗi cực đoan này.</a:t>
            </a:r>
            <a:br/>
            <a:br/>
            <a:r>
              <a:t>• Trả lời Câu hỏi Nghiên cứu 3 (RQ3):</a:t>
            </a:r>
            <a:br/>
            <a:r>
              <a:t>  - Phần lớn lỗi cực đoan bắt nguồn từ bản chất bài toán nhị phân đối với cảm xúc đa khía cạnh và chất lượng nhãn dữ liệu.</a:t>
            </a:r>
            <a:br/>
            <a:r>
              <a:t>  - Dự đoán của BERT ở nhiều ca lỗi cực đoan thể hiện sự nhất quán với ngữ nghĩa bề mặt của bài viết hơn là nhãn ground-truth.</a:t>
            </a:r>
            <a:br/>
            <a:r>
              <a:t>  - Hạn chế suy luận ngữ cảnh sâu chỉ chiếm tỷ lệ nhỏ (như Case 16: dẫn lời chê của bạn bè rồi phản bác 'I disagree').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Arial"/>
              </a:defRPr>
            </a:pPr>
            <a:r>
              <a:t>12. Ứng Dụng Thực Tế: Web Demo Thời Gian Thực (Streamlit)</a:t>
            </a:r>
          </a:p>
          <a:p>
            <a:pPr>
              <a:spcBef>
                <a:spcPts val="300"/>
              </a:spcBef>
              <a:defRPr sz="1100">
                <a:solidFill>
                  <a:srgbClr val="718096"/>
                </a:solidFill>
                <a:latin typeface="Arial"/>
              </a:defRPr>
            </a:pPr>
            <a:r>
              <a:t>Giai đoạn 04 (Deployment) theo AI Project Cycle — So sánh đối đầu thời gian thực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91072"/>
            <a:ext cx="8229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718096"/>
                </a:solidFill>
                <a:latin typeface="Arial"/>
              </a:defRPr>
            </a:pPr>
            <a:r>
              <a:t>Đồ án môn học Trí tuệ Nhân tạo — ĐH Bách Khoa - ĐHĐN</a:t>
            </a:r>
          </a:p>
        </p:txBody>
      </p:sp>
      <p:pic>
        <p:nvPicPr>
          <p:cNvPr id="4" name="Picture 3" descr="slide5_shape_Google Shape;368;g3f87e06bbab_0_22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4" y="5897880"/>
            <a:ext cx="1097280" cy="594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defRPr sz="1400" b="1">
                <a:solidFill>
                  <a:srgbClr val="1A365D"/>
                </a:solidFill>
                <a:latin typeface="Arial"/>
              </a:defRPr>
            </a:pPr>
            <a:r>
              <a:t>Tính Năng Của Ứng Dụng (app/app.py)</a:t>
            </a:r>
          </a:p>
          <a:p>
            <a:pPr>
              <a:spcBef>
                <a:spcPts val="500"/>
              </a:spcBef>
              <a:defRPr sz="1100">
                <a:solidFill>
                  <a:srgbClr val="2D3748"/>
                </a:solidFill>
                <a:latin typeface="Arial"/>
              </a:defRPr>
            </a:pPr>
            <a:r>
              <a:t>• Giao diện Web tương tác trực quan:</a:t>
            </a:r>
            <a:br/>
            <a:r>
              <a:t>  - Khởi chạy nhanh bằng lệnh: streamlit run app/app.py</a:t>
            </a:r>
            <a:br/>
            <a:r>
              <a:t>  - Cho phép người dùng nhập văn bản đánh giá bất kỳ.</a:t>
            </a:r>
            <a:br/>
            <a:r>
              <a:t>  - Cung cấp sẵn 4 câu đánh giá mẫu kiểm thử các trường hợp phức tạp.</a:t>
            </a:r>
            <a:br/>
            <a:br/>
            <a:r>
              <a:t>• So sánh đối đầu song song (Side-by-Side):</a:t>
            </a:r>
            <a:br/>
            <a:r>
              <a:t>  - Hiển thị nhãn dự đoán và thanh xác suất Softmax của cả Baseline và BERT.</a:t>
            </a:r>
            <a:br/>
            <a:r>
              <a:t>  - Làm nổi bật sự vượt trội của BERT trước các câu phủ định tinh vi.</a:t>
            </a:r>
            <a:br/>
            <a:br/>
            <a:r>
              <a:t>• Tính năng giải thích mô hình (Explainability):</a:t>
            </a:r>
            <a:br/>
            <a:r>
              <a:t>  - Trực quan hóa quá trình bẻ từ con WordPiece ([CLS], ##tokens, [SEP]).</a:t>
            </a:r>
            <a:br/>
            <a:r>
              <a:t>  - Giúp người dùng hiểu rõ cách BERT mã hóa ngữ nghĩa văn bản.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defRPr sz="1400" b="1">
                <a:solidFill>
                  <a:srgbClr val="1A365D"/>
                </a:solidFill>
                <a:latin typeface="Arial"/>
              </a:defRPr>
            </a:pPr>
            <a:r>
              <a:t>Kiểm Thử Với 4 Câu Đánh Giá Mẫu</a:t>
            </a:r>
          </a:p>
          <a:p>
            <a:pPr>
              <a:spcBef>
                <a:spcPts val="500"/>
              </a:spcBef>
              <a:defRPr sz="1100">
                <a:solidFill>
                  <a:srgbClr val="2D3748"/>
                </a:solidFill>
                <a:latin typeface="Arial"/>
              </a:defRPr>
            </a:pPr>
            <a:r>
              <a:t>• Câu 1: 'The room was not bad, actually quite comfortable.'</a:t>
            </a:r>
            <a:br/>
            <a:r>
              <a:t>  -&gt; BERT: POSITIVE (Cấu trúc litotes 'not bad' được xử lý chuẩn xác).</a:t>
            </a:r>
            <a:br/>
            <a:br/>
            <a:r>
              <a:t>• Câu 2: 'Not a single complaint about the wonderful staff.'</a:t>
            </a:r>
            <a:br/>
            <a:r>
              <a:t>  -&gt; BERT: POSITIVE (Hiểu 'Not a single' đảo nghĩa 'complaint').</a:t>
            </a:r>
            <a:br/>
            <a:br/>
            <a:r>
              <a:t>• Câu 3: 'Great location, but the dirty bathroom ruined our entire stay.'</a:t>
            </a:r>
            <a:br/>
            <a:r>
              <a:t>  -&gt; BERT: NEGATIVE (Bắt đúng mệnh đề kết luận chính sau liên từ 'but').</a:t>
            </a:r>
            <a:br/>
            <a:br/>
            <a:r>
              <a:t>• Câu 4: 'I had high expectations, but everything was disappointing.'</a:t>
            </a:r>
            <a:br/>
            <a:r>
              <a:t>  -&gt; BERT: NEGATIVE (Nhận diện cảm xúc thất vọng rõ ràng).</a:t>
            </a:r>
            <a:br/>
            <a:br/>
            <a:r>
              <a:t>• Ý nghĩa thực tiễn: Hỗ trợ quản lý khách sạn theo dõi mức độ hài lòng khách hàng thời gian thực.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Arial"/>
              </a:defRPr>
            </a:pPr>
            <a:r>
              <a:t>13. Giới Hạn Nghiên Cứu &amp; Hướng Phát Triển Tương Lai</a:t>
            </a:r>
          </a:p>
          <a:p>
            <a:pPr>
              <a:spcBef>
                <a:spcPts val="300"/>
              </a:spcBef>
              <a:defRPr sz="1100">
                <a:solidFill>
                  <a:srgbClr val="718096"/>
                </a:solidFill>
                <a:latin typeface="Arial"/>
              </a:defRPr>
            </a:pPr>
            <a:r>
              <a:t>Giai đoạn 05 &amp; 06 (Maintenance &amp; Feedback) theo AI Project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91072"/>
            <a:ext cx="8229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718096"/>
                </a:solidFill>
                <a:latin typeface="Arial"/>
              </a:defRPr>
            </a:pPr>
            <a:r>
              <a:t>Đồ án môn học Trí tuệ Nhân tạo — ĐH Bách Khoa - ĐHĐN</a:t>
            </a:r>
          </a:p>
        </p:txBody>
      </p:sp>
      <p:pic>
        <p:nvPicPr>
          <p:cNvPr id="4" name="Picture 3" descr="slide5_shape_Google Shape;368;g3f87e06bbab_0_22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4" y="5897880"/>
            <a:ext cx="1097280" cy="594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defRPr sz="1400" b="1">
                <a:solidFill>
                  <a:srgbClr val="1A365D"/>
                </a:solidFill>
                <a:latin typeface="Arial"/>
              </a:defRPr>
            </a:pPr>
            <a:r>
              <a:t>Các Giới Hạn Hiện Tại Của Đồ Án</a:t>
            </a:r>
          </a:p>
          <a:p>
            <a:pPr>
              <a:spcBef>
                <a:spcPts val="500"/>
              </a:spcBef>
              <a:defRPr sz="1100">
                <a:solidFill>
                  <a:srgbClr val="2D3748"/>
                </a:solidFill>
                <a:latin typeface="Arial"/>
              </a:defRPr>
            </a:pPr>
            <a:r>
              <a:t>• 1. Giới hạn bài toán nhị phân (Binary Limitation):</a:t>
            </a:r>
            <a:br/>
            <a:r>
              <a:t>  - Chỉ phân loại 2 thái cực 0 và 1, chưa nắm bắt được các đánh giá trung lập (3 sao / Neutral).</a:t>
            </a:r>
            <a:br/>
            <a:br/>
            <a:r>
              <a:t>• 2. Hiện tượng cắt cụt ở văn bản rất dài:</a:t>
            </a:r>
            <a:br/>
            <a:r>
              <a:t>  - Dù ngưỡng MAX_LENGTH = 128 bao phủ 96.07% tập dữ liệu, 3.93% văn bản dài vẫn bị cắt đuôi (phân vị p99 là 168 tokens).</a:t>
            </a:r>
            <a:br/>
            <a:br/>
            <a:r>
              <a:t>• 3. Đánh đổi chi phí tài nguyên tính toán (Resource Trade-off):</a:t>
            </a:r>
            <a:br/>
            <a:r>
              <a:t>  - BERT có 110M tham số, tốc độ suy luận ~12.85 mẫu/s trên CPU, chậm hơn đáng kể so với mô hình tuyến tính TF-IDF (~28,784 mẫu/s).</a:t>
            </a:r>
            <a:br/>
            <a:br/>
            <a:r>
              <a:t>• 4. Giới hạn mẫu phân tích lỗi:</a:t>
            </a:r>
            <a:br/>
            <a:r>
              <a:t>  - Phân tích định tính tập trung vào mẫu 20 ca lỗi cực đoan nhất, không phản ánh toàn bộ 599 ca lỗi.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defRPr sz="1400" b="1">
                <a:solidFill>
                  <a:srgbClr val="1A365D"/>
                </a:solidFill>
                <a:latin typeface="Arial"/>
              </a:defRPr>
            </a:pPr>
            <a:r>
              <a:t>Hướng Phát Triển Tiếp Theo</a:t>
            </a:r>
          </a:p>
          <a:p>
            <a:pPr>
              <a:spcBef>
                <a:spcPts val="500"/>
              </a:spcBef>
              <a:defRPr sz="1100">
                <a:solidFill>
                  <a:srgbClr val="2D3748"/>
                </a:solidFill>
                <a:latin typeface="Arial"/>
              </a:defRPr>
            </a:pPr>
            <a:r>
              <a:t>• 1. Phân tích Cảm xúc Đa Khía cạnh (ABSA):</a:t>
            </a:r>
            <a:br/>
            <a:r>
              <a:t>  - Tách bạch cảm xúc theo từng tiêu chí: Vị trí, Vệ sinh, Giá cả, Nhân viên để giải quyết triệt để bài toán cảm xúc pha trộn.</a:t>
            </a:r>
            <a:br/>
            <a:br/>
            <a:r>
              <a:t>• 2. Tối ưu hóa &amp; Nén mô hình (Model Compression):</a:t>
            </a:r>
            <a:br/>
            <a:r>
              <a:t>  - Chuyển giao tri thức (Knowledge Distillation) sang DistilBERT (giảm 40% kích thước, giữ 97% hiệu năng).</a:t>
            </a:r>
            <a:br/>
            <a:r>
              <a:t>  - Áp dụng lượng tử hóa INT8 (Quantization) và ONNX Runtime để tăng tốc suy luận trên CPU lên 3-5 lần.</a:t>
            </a:r>
            <a:br/>
            <a:br/>
            <a:r>
              <a:t>• 3. Mở rộng đa ngôn ngữ:</a:t>
            </a:r>
            <a:br/>
            <a:r>
              <a:t>  - Ứng dụng PhoBERT / XLM-RoBERTa cho đánh giá khách sạn tại thị trường Việt Nam.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Arial"/>
              </a:defRPr>
            </a:pPr>
            <a:r>
              <a:t>14. Tổng Kết Đóng Góp &amp; Sẵn Sàng Phản Biện (Q&amp;A)</a:t>
            </a:r>
          </a:p>
          <a:p>
            <a:pPr>
              <a:spcBef>
                <a:spcPts val="300"/>
              </a:spcBef>
              <a:defRPr sz="1100">
                <a:solidFill>
                  <a:srgbClr val="718096"/>
                </a:solidFill>
                <a:latin typeface="Arial"/>
              </a:defRPr>
            </a:pPr>
            <a:r>
              <a:t>Hoàn thành toàn diện đồ án môn học Trí tuệ Nhân tạo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91072"/>
            <a:ext cx="8229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718096"/>
                </a:solidFill>
                <a:latin typeface="Arial"/>
              </a:defRPr>
            </a:pPr>
            <a:r>
              <a:t>Đồ án môn học Trí tuệ Nhân tạo — ĐH Bách Khoa - ĐHĐN</a:t>
            </a:r>
          </a:p>
        </p:txBody>
      </p:sp>
      <p:pic>
        <p:nvPicPr>
          <p:cNvPr id="4" name="Picture 3" descr="slide5_shape_Google Shape;368;g3f87e06bbab_0_22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4" y="5897880"/>
            <a:ext cx="1097280" cy="594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defRPr sz="1400" b="1">
                <a:solidFill>
                  <a:srgbClr val="1A365D"/>
                </a:solidFill>
                <a:latin typeface="Arial"/>
              </a:defRPr>
            </a:pPr>
            <a:r>
              <a:t>4 Đóng Góp Nổi Bật Của Đồ Án</a:t>
            </a:r>
          </a:p>
          <a:p>
            <a:pPr>
              <a:spcBef>
                <a:spcPts val="500"/>
              </a:spcBef>
              <a:defRPr sz="1100">
                <a:solidFill>
                  <a:srgbClr val="2D3748"/>
                </a:solidFill>
                <a:latin typeface="Arial"/>
              </a:defRPr>
            </a:pPr>
            <a:r>
              <a:t>• 1. Hoàn thành trọn vẹn quy trình AI Project Cycle:</a:t>
            </a:r>
            <a:br/>
            <a:r>
              <a:t>  - Thực hiện bài bản từ Scope, Data, Models, Deployment, đến Error Analysis và Feedback.</a:t>
            </a:r>
            <a:br/>
            <a:br/>
            <a:r>
              <a:t>• 2. Triển khai chuẩn mực &amp; Khôi phục tiềm năng BERT:</a:t>
            </a:r>
            <a:br/>
            <a:r>
              <a:t>  - Tìm ra 5 lỗi kỹ thuật trong mã nguồn cũ môn học (chỉ đạt 65.20%).</a:t>
            </a:r>
            <a:br/>
            <a:r>
              <a:t>  - Xây dựng pipeline chuẩn đạt 84.83% Accuracy (Tăng +19.63%!).</a:t>
            </a:r>
            <a:br/>
            <a:br/>
            <a:r>
              <a:t>• 3. Thực nghiệm đối đầu khách quan:</a:t>
            </a:r>
            <a:br/>
            <a:r>
              <a:t>  - Chứng minh BERT vượt trội Baseline (+2.89% Accuracy, +0.0291 Macro F1) trên Held-Out Test Set 3,949 mẫu.</a:t>
            </a:r>
            <a:br/>
            <a:br/>
            <a:r>
              <a:t>• 4. Tính trung thực &amp; Tái lập học thuật:</a:t>
            </a:r>
            <a:br/>
            <a:r>
              <a:t>  - Mọi con số đều có artifact kiểm chứng; bộ tài liệu Study Guide &amp; Defense QA hoàn chỉnh.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 bIns="201168"/>
          <a:lstStyle/>
          <a:p>
            <a:pPr algn="ctr">
              <a:defRPr sz="1400" b="1">
                <a:solidFill>
                  <a:srgbClr val="1A365D"/>
                </a:solidFill>
                <a:latin typeface="Arial"/>
              </a:defRPr>
            </a:pPr>
            <a:r>
              <a:t>Lời Cảm Ơn &amp; Phiên Hỏi Đáp (Q&amp;A)</a:t>
            </a:r>
          </a:p>
          <a:p>
            <a:pPr>
              <a:spcBef>
                <a:spcPts val="500"/>
              </a:spcBef>
              <a:defRPr sz="1100">
                <a:solidFill>
                  <a:srgbClr val="2D3748"/>
                </a:solidFill>
                <a:latin typeface="Arial"/>
              </a:defRPr>
            </a:pPr>
            <a:r>
              <a:t>TRÂN TRỌNG CẢM ƠN QUÝ THẦY CÔ VÀ HỘI ĐỒNG!</a:t>
            </a:r>
            <a:br/>
            <a:br/>
            <a:r>
              <a:t>• Nhóm nghiên cứu xin chân thành cảm ơn sự hướng dẫn tận tình của Giảng viên môn học Trí tuệ Nhân tạo.</a:t>
            </a:r>
            <a:br/>
            <a:br/>
            <a:r>
              <a:t>• Dự án đã sẵn sàng cho phần Thảo luận &amp; Trả lời Phản biện:</a:t>
            </a:r>
            <a:br/>
            <a:r>
              <a:t>  - Cẩm nang 25 khái niệm: docs/STUDY_GUIDE.md</a:t>
            </a:r>
            <a:br/>
            <a:r>
              <a:t>  - Bộ 25 câu hỏi phản biện: docs/DEFENSE_QA.md</a:t>
            </a:r>
            <a:br/>
            <a:r>
              <a:t>  - Báo cáo tổng kết 17 mục: FINAL_REPORT.md</a:t>
            </a:r>
            <a:br/>
            <a:r>
              <a:t>  - Ứng dụng Demo trực tiếp: streamlit run app/app.py</a:t>
            </a:r>
            <a:br/>
            <a:br/>
            <a:r>
              <a:t>Kính mời Quý Thầy Cô đặt câu hỏi cho Nhóm!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