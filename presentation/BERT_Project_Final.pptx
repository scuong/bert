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8" r:id="rId4"/>
    <p:sldMasterId id="2147483670" r:id="rId5"/>
  </p:sldMasterIdLst>
  <p:notesMasterIdLst>
    <p:notesMasterId r:id="rId6"/>
  </p:notesMasterIdLst>
  <p:sldIdLst>
    <p:sldId id="256" r:id="rId7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70" r:id="rId21"/>
  </p:sldIdLst>
  <p:sldSz cy="6858000" cx="12192000"/>
  <p:notesSz cx="6858000" cy="9144000"/>
  <p:embeddedFontLst>
    <p:embeddedFont>
      <p:font typeface="Courgette"/>
      <p:regular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jefPylZojY1Vl4SwS0R07Jr3Ta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21" Type="http://schemas.openxmlformats.org/officeDocument/2006/relationships/slide" Target="slides/slide15.xml"/><Relationship Id="rId22" Type="http://schemas.openxmlformats.org/officeDocument/2006/relationships/font" Target="fonts/Courgette-regular.fntdata"/><Relationship Id="rId23" Type="http://customschemas.google.com/relationships/presentationmetadata" Target="metadata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calendar&#10;&#10;Description automatically generated" id="15" name="Google Shape;15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9" y="0"/>
            <a:ext cx="1219170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9" name="Google Shape;19;p1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" name="Google Shape;20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" name="Google Shape;22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8" y="0"/>
            <a:ext cx="12191851" cy="685808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8"/>
          <p:cNvSpPr txBox="1"/>
          <p:nvPr/>
        </p:nvSpPr>
        <p:spPr>
          <a:xfrm>
            <a:off x="3400425" y="648876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8"/>
          <p:cNvSpPr txBox="1"/>
          <p:nvPr/>
        </p:nvSpPr>
        <p:spPr>
          <a:xfrm>
            <a:off x="282121" y="155571"/>
            <a:ext cx="385535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CHƯƠNG 1: TỔNG QUAN</a:t>
            </a:r>
            <a:endParaRPr/>
          </a:p>
        </p:txBody>
      </p:sp>
      <p:cxnSp>
        <p:nvCxnSpPr>
          <p:cNvPr id="25" name="Google Shape;25;p18"/>
          <p:cNvCxnSpPr/>
          <p:nvPr/>
        </p:nvCxnSpPr>
        <p:spPr>
          <a:xfrm>
            <a:off x="371475" y="501012"/>
            <a:ext cx="2335149" cy="0"/>
          </a:xfrm>
          <a:prstGeom prst="straightConnector1">
            <a:avLst/>
          </a:prstGeom>
          <a:noFill/>
          <a:ln cap="flat" cmpd="sng" w="28575">
            <a:solidFill>
              <a:srgbClr val="75707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6" name="Google Shape;26;p18"/>
          <p:cNvSpPr txBox="1"/>
          <p:nvPr/>
        </p:nvSpPr>
        <p:spPr>
          <a:xfrm>
            <a:off x="282121" y="524902"/>
            <a:ext cx="385535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85189"/>
                </a:solidFill>
                <a:latin typeface="Arial"/>
                <a:ea typeface="Arial"/>
                <a:cs typeface="Arial"/>
                <a:sym typeface="Arial"/>
              </a:rPr>
              <a:t>1.1 ĐỀ CƯƠNG CHI TIẾT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" name="Google Shape;31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8" y="0"/>
            <a:ext cx="12191851" cy="68580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Icon&#10;&#10;Description automatically generated with medium confidence" id="38" name="Google Shape;38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20041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hape&#10;&#10;Description automatically generated with low confidence" id="43" name="Google Shape;43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457371"/>
            <a:ext cx="12192000" cy="1400629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4"/>
          <p:cNvSpPr txBox="1"/>
          <p:nvPr/>
        </p:nvSpPr>
        <p:spPr>
          <a:xfrm>
            <a:off x="9296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4"/>
          <p:cNvSpPr txBox="1"/>
          <p:nvPr/>
        </p:nvSpPr>
        <p:spPr>
          <a:xfrm>
            <a:off x="297543" y="217714"/>
            <a:ext cx="385535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CHƯƠNG 1: TỔNG QUAN</a:t>
            </a:r>
            <a:endParaRPr/>
          </a:p>
        </p:txBody>
      </p:sp>
      <p:cxnSp>
        <p:nvCxnSpPr>
          <p:cNvPr id="46" name="Google Shape;46;p24"/>
          <p:cNvCxnSpPr/>
          <p:nvPr/>
        </p:nvCxnSpPr>
        <p:spPr>
          <a:xfrm flipH="1" rot="10800000">
            <a:off x="371475" y="494125"/>
            <a:ext cx="2047634" cy="588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7" name="Google Shape;47;p24"/>
          <p:cNvSpPr txBox="1"/>
          <p:nvPr/>
        </p:nvSpPr>
        <p:spPr>
          <a:xfrm>
            <a:off x="3402693" y="217126"/>
            <a:ext cx="385535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85189"/>
                </a:solidFill>
                <a:latin typeface="Arial"/>
                <a:ea typeface="Arial"/>
                <a:cs typeface="Arial"/>
                <a:sym typeface="Arial"/>
              </a:rPr>
              <a:t>1.1 ĐỀ CƯƠNG CHI TIẾT</a:t>
            </a:r>
            <a:endParaRPr/>
          </a:p>
        </p:txBody>
      </p:sp>
      <p:cxnSp>
        <p:nvCxnSpPr>
          <p:cNvPr id="48" name="Google Shape;48;p24"/>
          <p:cNvCxnSpPr/>
          <p:nvPr/>
        </p:nvCxnSpPr>
        <p:spPr>
          <a:xfrm>
            <a:off x="3476625" y="494125"/>
            <a:ext cx="1639385" cy="0"/>
          </a:xfrm>
          <a:prstGeom prst="straightConnector1">
            <a:avLst/>
          </a:prstGeom>
          <a:noFill/>
          <a:ln cap="flat" cmpd="sng" w="12700">
            <a:solidFill>
              <a:srgbClr val="085189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a" type="vertTx">
  <p:cSld name="VERTICAL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4" name="Google Shape;54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851" cy="685808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5"/>
          <p:cNvSpPr txBox="1"/>
          <p:nvPr>
            <p:ph idx="12" type="sldNum"/>
          </p:nvPr>
        </p:nvSpPr>
        <p:spPr>
          <a:xfrm>
            <a:off x="4724325" y="640009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25"/>
          <p:cNvSpPr txBox="1"/>
          <p:nvPr/>
        </p:nvSpPr>
        <p:spPr>
          <a:xfrm>
            <a:off x="282121" y="155571"/>
            <a:ext cx="385535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CHƯƠNG 1: TỔNG QUAN</a:t>
            </a:r>
            <a:endParaRPr/>
          </a:p>
        </p:txBody>
      </p:sp>
      <p:cxnSp>
        <p:nvCxnSpPr>
          <p:cNvPr id="57" name="Google Shape;57;p25"/>
          <p:cNvCxnSpPr/>
          <p:nvPr/>
        </p:nvCxnSpPr>
        <p:spPr>
          <a:xfrm>
            <a:off x="371475" y="501012"/>
            <a:ext cx="2335149" cy="0"/>
          </a:xfrm>
          <a:prstGeom prst="straightConnector1">
            <a:avLst/>
          </a:prstGeom>
          <a:noFill/>
          <a:ln cap="flat" cmpd="sng" w="28575">
            <a:solidFill>
              <a:srgbClr val="75707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8" name="Google Shape;58;p25"/>
          <p:cNvSpPr txBox="1"/>
          <p:nvPr/>
        </p:nvSpPr>
        <p:spPr>
          <a:xfrm>
            <a:off x="282121" y="524902"/>
            <a:ext cx="385535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85189"/>
                </a:solidFill>
                <a:latin typeface="Arial"/>
                <a:ea typeface="Arial"/>
                <a:cs typeface="Arial"/>
                <a:sym typeface="Arial"/>
              </a:rPr>
              <a:t>1.1 ĐỀ CƯƠNG CHI TIẾT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Slide">
  <p:cSld name="4_Title Slide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hape&#10;&#10;Description automatically generated with low confidence" id="63" name="Google Shape;63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457371"/>
            <a:ext cx="12192000" cy="1400629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6"/>
          <p:cNvSpPr txBox="1"/>
          <p:nvPr/>
        </p:nvSpPr>
        <p:spPr>
          <a:xfrm>
            <a:off x="9296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6"/>
          <p:cNvSpPr txBox="1"/>
          <p:nvPr/>
        </p:nvSpPr>
        <p:spPr>
          <a:xfrm>
            <a:off x="297543" y="217714"/>
            <a:ext cx="385535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HƯỚNG DẪN SỬ DỤNG BỘ NHẬN DIỆN</a:t>
            </a:r>
            <a:endParaRPr/>
          </a:p>
        </p:txBody>
      </p:sp>
      <p:cxnSp>
        <p:nvCxnSpPr>
          <p:cNvPr id="66" name="Google Shape;66;p26"/>
          <p:cNvCxnSpPr/>
          <p:nvPr/>
        </p:nvCxnSpPr>
        <p:spPr>
          <a:xfrm>
            <a:off x="371475" y="494713"/>
            <a:ext cx="2743200" cy="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7" name="Google Shape;67;p26"/>
          <p:cNvSpPr txBox="1"/>
          <p:nvPr/>
        </p:nvSpPr>
        <p:spPr>
          <a:xfrm>
            <a:off x="3402693" y="217126"/>
            <a:ext cx="385535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85189"/>
                </a:solidFill>
                <a:latin typeface="Arial"/>
                <a:ea typeface="Arial"/>
                <a:cs typeface="Arial"/>
                <a:sym typeface="Arial"/>
              </a:rPr>
              <a:t>Quà tặng</a:t>
            </a:r>
            <a:endParaRPr/>
          </a:p>
        </p:txBody>
      </p:sp>
      <p:cxnSp>
        <p:nvCxnSpPr>
          <p:cNvPr id="68" name="Google Shape;68;p26"/>
          <p:cNvCxnSpPr/>
          <p:nvPr/>
        </p:nvCxnSpPr>
        <p:spPr>
          <a:xfrm>
            <a:off x="3476625" y="494125"/>
            <a:ext cx="778852" cy="0"/>
          </a:xfrm>
          <a:prstGeom prst="straightConnector1">
            <a:avLst/>
          </a:prstGeom>
          <a:noFill/>
          <a:ln cap="flat" cmpd="sng" w="12700">
            <a:solidFill>
              <a:srgbClr val="085189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2" name="Google Shape;72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hape&#10;&#10;Description automatically generated" id="75" name="Google Shape;75;p27"/>
          <p:cNvPicPr preferRelativeResize="0"/>
          <p:nvPr/>
        </p:nvPicPr>
        <p:blipFill rotWithShape="1">
          <a:blip r:embed="rId2">
            <a:alphaModFix/>
          </a:blip>
          <a:srcRect b="11387" l="693" r="0" t="0"/>
          <a:stretch/>
        </p:blipFill>
        <p:spPr>
          <a:xfrm>
            <a:off x="0" y="0"/>
            <a:ext cx="12208745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27"/>
          <p:cNvSpPr txBox="1"/>
          <p:nvPr/>
        </p:nvSpPr>
        <p:spPr>
          <a:xfrm>
            <a:off x="8763000" y="65087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4" name="Google Shape;94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6" name="Google Shape;106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3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9" name="Google Shape;119;p3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3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1" name="Google Shape;121;p3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7" name="Google Shape;137;p3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8" name="Google Shape;138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5" name="Google Shape;145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7" name="Google Shape;157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 type="blank">
  <p:cSld name="BLANK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87e06bbab_0_242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g3f87e06bbab_0_242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g3f87e06bbab_0_24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calendar&#10;&#10;Description automatically generated" id="170" name="Google Shape;170;g3f87e06bbab_0_24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9" y="0"/>
            <a:ext cx="1219170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87e06bbab_0_2433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g3f87e06bbab_0_2433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74" name="Google Shape;174;g3f87e06bbab_0_2433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75" name="Google Shape;175;g3f87e06bbab_0_243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g3f87e06bbab_0_243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7" name="Google Shape;177;g3f87e06bbab_0_24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8" y="0"/>
            <a:ext cx="12191852" cy="685808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3f87e06bbab_0_2433"/>
          <p:cNvSpPr txBox="1"/>
          <p:nvPr/>
        </p:nvSpPr>
        <p:spPr>
          <a:xfrm>
            <a:off x="3400425" y="6488766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f87e06bbab_0_2433"/>
          <p:cNvSpPr txBox="1"/>
          <p:nvPr/>
        </p:nvSpPr>
        <p:spPr>
          <a:xfrm>
            <a:off x="282121" y="155571"/>
            <a:ext cx="385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CHƯƠNG 1: TỔNG QUAN</a:t>
            </a:r>
            <a:endParaRPr/>
          </a:p>
        </p:txBody>
      </p:sp>
      <p:cxnSp>
        <p:nvCxnSpPr>
          <p:cNvPr id="180" name="Google Shape;180;g3f87e06bbab_0_2433"/>
          <p:cNvCxnSpPr/>
          <p:nvPr/>
        </p:nvCxnSpPr>
        <p:spPr>
          <a:xfrm>
            <a:off x="371475" y="501012"/>
            <a:ext cx="2335200" cy="0"/>
          </a:xfrm>
          <a:prstGeom prst="straightConnector1">
            <a:avLst/>
          </a:prstGeom>
          <a:noFill/>
          <a:ln cap="flat" cmpd="sng" w="28575">
            <a:solidFill>
              <a:srgbClr val="75707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81" name="Google Shape;181;g3f87e06bbab_0_2433"/>
          <p:cNvSpPr txBox="1"/>
          <p:nvPr/>
        </p:nvSpPr>
        <p:spPr>
          <a:xfrm>
            <a:off x="282121" y="524902"/>
            <a:ext cx="3855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85189"/>
                </a:solidFill>
                <a:latin typeface="Arial"/>
                <a:ea typeface="Arial"/>
                <a:cs typeface="Arial"/>
                <a:sym typeface="Arial"/>
              </a:rPr>
              <a:t>1.1 ĐỀ CƯƠNG CHI TIẾT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87e06bbab_0_244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g3f87e06bbab_0_244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g3f87e06bbab_0_244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6" name="Google Shape;186;g3f87e06bbab_0_24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8" y="0"/>
            <a:ext cx="12191852" cy="68580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87e06bbab_0_244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g3f87e06bbab_0_244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0" name="Google Shape;190;g3f87e06bbab_0_244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g3f87e06bbab_0_244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g3f87e06bbab_0_244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Icon&#10;&#10;Description automatically generated with medium confidence" id="193" name="Google Shape;193;g3f87e06bbab_0_24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200418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87e06bbab_0_245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g3f87e06bbab_0_245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g3f87e06bbab_0_245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hape&#10;&#10;Description automatically generated with low confidence" id="198" name="Google Shape;198;g3f87e06bbab_0_24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457371"/>
            <a:ext cx="12192002" cy="1400629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3f87e06bbab_0_2456"/>
          <p:cNvSpPr txBox="1"/>
          <p:nvPr/>
        </p:nvSpPr>
        <p:spPr>
          <a:xfrm>
            <a:off x="92964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f87e06bbab_0_2456"/>
          <p:cNvSpPr txBox="1"/>
          <p:nvPr/>
        </p:nvSpPr>
        <p:spPr>
          <a:xfrm>
            <a:off x="297543" y="217714"/>
            <a:ext cx="3855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CHƯƠNG 1: TỔNG QUAN</a:t>
            </a:r>
            <a:endParaRPr/>
          </a:p>
        </p:txBody>
      </p:sp>
      <p:cxnSp>
        <p:nvCxnSpPr>
          <p:cNvPr id="201" name="Google Shape;201;g3f87e06bbab_0_2456"/>
          <p:cNvCxnSpPr/>
          <p:nvPr/>
        </p:nvCxnSpPr>
        <p:spPr>
          <a:xfrm flipH="1" rot="10800000">
            <a:off x="371475" y="494113"/>
            <a:ext cx="2047500" cy="6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02" name="Google Shape;202;g3f87e06bbab_0_2456"/>
          <p:cNvSpPr txBox="1"/>
          <p:nvPr/>
        </p:nvSpPr>
        <p:spPr>
          <a:xfrm>
            <a:off x="3402693" y="217126"/>
            <a:ext cx="3855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85189"/>
                </a:solidFill>
                <a:latin typeface="Arial"/>
                <a:ea typeface="Arial"/>
                <a:cs typeface="Arial"/>
                <a:sym typeface="Arial"/>
              </a:rPr>
              <a:t>1.1 ĐỀ CƯƠNG CHI TIẾT</a:t>
            </a:r>
            <a:endParaRPr/>
          </a:p>
        </p:txBody>
      </p:sp>
      <p:cxnSp>
        <p:nvCxnSpPr>
          <p:cNvPr id="203" name="Google Shape;203;g3f87e06bbab_0_2456"/>
          <p:cNvCxnSpPr/>
          <p:nvPr/>
        </p:nvCxnSpPr>
        <p:spPr>
          <a:xfrm>
            <a:off x="3476625" y="494125"/>
            <a:ext cx="1639500" cy="0"/>
          </a:xfrm>
          <a:prstGeom prst="straightConnector1">
            <a:avLst/>
          </a:prstGeom>
          <a:noFill/>
          <a:ln cap="flat" cmpd="sng" w="12700">
            <a:solidFill>
              <a:srgbClr val="085189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a" type="vertTx">
  <p:cSld name="VERTICAL_TEX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87e06bbab_0_246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g3f87e06bbab_0_2466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7" name="Google Shape;207;g3f87e06bbab_0_246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g3f87e06bbab_0_246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9" name="Google Shape;209;g3f87e06bbab_0_24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852" cy="6858084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3f87e06bbab_0_2466"/>
          <p:cNvSpPr txBox="1"/>
          <p:nvPr>
            <p:ph idx="12" type="sldNum"/>
          </p:nvPr>
        </p:nvSpPr>
        <p:spPr>
          <a:xfrm>
            <a:off x="4724325" y="640009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ct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" name="Google Shape;211;g3f87e06bbab_0_2466"/>
          <p:cNvSpPr txBox="1"/>
          <p:nvPr/>
        </p:nvSpPr>
        <p:spPr>
          <a:xfrm>
            <a:off x="282121" y="155571"/>
            <a:ext cx="385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CHƯƠNG 1: TỔNG QUAN</a:t>
            </a:r>
            <a:endParaRPr/>
          </a:p>
        </p:txBody>
      </p:sp>
      <p:cxnSp>
        <p:nvCxnSpPr>
          <p:cNvPr id="212" name="Google Shape;212;g3f87e06bbab_0_2466"/>
          <p:cNvCxnSpPr/>
          <p:nvPr/>
        </p:nvCxnSpPr>
        <p:spPr>
          <a:xfrm>
            <a:off x="371475" y="501012"/>
            <a:ext cx="2335200" cy="0"/>
          </a:xfrm>
          <a:prstGeom prst="straightConnector1">
            <a:avLst/>
          </a:prstGeom>
          <a:noFill/>
          <a:ln cap="flat" cmpd="sng" w="28575">
            <a:solidFill>
              <a:srgbClr val="75707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13" name="Google Shape;213;g3f87e06bbab_0_2466"/>
          <p:cNvSpPr txBox="1"/>
          <p:nvPr/>
        </p:nvSpPr>
        <p:spPr>
          <a:xfrm>
            <a:off x="282121" y="524902"/>
            <a:ext cx="3855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85189"/>
                </a:solidFill>
                <a:latin typeface="Arial"/>
                <a:ea typeface="Arial"/>
                <a:cs typeface="Arial"/>
                <a:sym typeface="Arial"/>
              </a:rPr>
              <a:t>1.1 ĐỀ CƯƠNG CHI TIẾT</a:t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Slide">
  <p:cSld name="4_Title Slide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87e06bbab_0_247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g3f87e06bbab_0_247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g3f87e06bbab_0_247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hape&#10;&#10;Description automatically generated with low confidence" id="218" name="Google Shape;218;g3f87e06bbab_0_24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457371"/>
            <a:ext cx="12192002" cy="1400629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3f87e06bbab_0_2476"/>
          <p:cNvSpPr txBox="1"/>
          <p:nvPr/>
        </p:nvSpPr>
        <p:spPr>
          <a:xfrm>
            <a:off x="92964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f87e06bbab_0_2476"/>
          <p:cNvSpPr txBox="1"/>
          <p:nvPr/>
        </p:nvSpPr>
        <p:spPr>
          <a:xfrm>
            <a:off x="297543" y="217714"/>
            <a:ext cx="3855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HƯỚNG DẪN SỬ DỤNG BỘ NHẬN DIỆN</a:t>
            </a:r>
            <a:endParaRPr/>
          </a:p>
        </p:txBody>
      </p:sp>
      <p:cxnSp>
        <p:nvCxnSpPr>
          <p:cNvPr id="221" name="Google Shape;221;g3f87e06bbab_0_2476"/>
          <p:cNvCxnSpPr/>
          <p:nvPr/>
        </p:nvCxnSpPr>
        <p:spPr>
          <a:xfrm>
            <a:off x="371475" y="494713"/>
            <a:ext cx="2743200" cy="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22" name="Google Shape;222;g3f87e06bbab_0_2476"/>
          <p:cNvSpPr txBox="1"/>
          <p:nvPr/>
        </p:nvSpPr>
        <p:spPr>
          <a:xfrm>
            <a:off x="3402693" y="217126"/>
            <a:ext cx="3855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85189"/>
                </a:solidFill>
                <a:latin typeface="Arial"/>
                <a:ea typeface="Arial"/>
                <a:cs typeface="Arial"/>
                <a:sym typeface="Arial"/>
              </a:rPr>
              <a:t>Quà tặng</a:t>
            </a:r>
            <a:endParaRPr/>
          </a:p>
        </p:txBody>
      </p:sp>
      <p:cxnSp>
        <p:nvCxnSpPr>
          <p:cNvPr id="223" name="Google Shape;223;g3f87e06bbab_0_2476"/>
          <p:cNvCxnSpPr/>
          <p:nvPr/>
        </p:nvCxnSpPr>
        <p:spPr>
          <a:xfrm>
            <a:off x="3476625" y="494125"/>
            <a:ext cx="778800" cy="0"/>
          </a:xfrm>
          <a:prstGeom prst="straightConnector1">
            <a:avLst/>
          </a:prstGeom>
          <a:noFill/>
          <a:ln cap="flat" cmpd="sng" w="12700">
            <a:solidFill>
              <a:srgbClr val="085189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87e06bbab_0_2486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g3f87e06bbab_0_2486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7" name="Google Shape;227;g3f87e06bbab_0_248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g3f87e06bbab_0_248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g3f87e06bbab_0_248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hape&#10;&#10;Description automatically generated" id="230" name="Google Shape;230;g3f87e06bbab_0_2486"/>
          <p:cNvPicPr preferRelativeResize="0"/>
          <p:nvPr/>
        </p:nvPicPr>
        <p:blipFill rotWithShape="1">
          <a:blip r:embed="rId2">
            <a:alphaModFix/>
          </a:blip>
          <a:srcRect b="11387" l="693" r="0" t="0"/>
          <a:stretch/>
        </p:blipFill>
        <p:spPr>
          <a:xfrm>
            <a:off x="0" y="0"/>
            <a:ext cx="12208744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g3f87e06bbab_0_2486"/>
          <p:cNvSpPr txBox="1"/>
          <p:nvPr/>
        </p:nvSpPr>
        <p:spPr>
          <a:xfrm>
            <a:off x="8763000" y="65087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87e06bbab_0_2494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g3f87e06bbab_0_2494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5" name="Google Shape;235;g3f87e06bbab_0_249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g3f87e06bbab_0_249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g3f87e06bbab_0_249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87e06bbab_37_0)">
  <p:cSld name="Generated (g3f87e06bbab_37_0)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 (g3f87e06bbab_30_0)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87e06bbab_0_250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g3f87e06bbab_0_250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2" name="Google Shape;242;g3f87e06bbab_0_250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g3f87e06bbab_0_250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g3f87e06bbab_0_250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 1">
  <p:cSld name="1_Blank (g3f87e06bbab_23_0)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87e06bbab_0_250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g3f87e06bbab_0_250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g3f87e06bbab_0_250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Relationship Id="rId9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0.xml"/><Relationship Id="rId13" Type="http://schemas.openxmlformats.org/officeDocument/2006/relationships/theme" Target="../theme/theme4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Relationship Id="rId9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2.xml"/><Relationship Id="rId1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5" name="Google Shape;85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9" name="Google Shape;89;p2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1851" cy="685808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1"/>
          <p:cNvSpPr txBox="1"/>
          <p:nvPr/>
        </p:nvSpPr>
        <p:spPr>
          <a:xfrm>
            <a:off x="4724325" y="640009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87e06bbab_0_24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2" name="Google Shape;162;g3f87e06bbab_0_242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3" name="Google Shape;163;g3f87e06bbab_0_242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4" name="Google Shape;164;g3f87e06bbab_0_242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5" name="Google Shape;165;g3f87e06bbab_0_24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calendar&#10;&#10;Description automatically generated" id="253" name="Google Shape;25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" y="0"/>
            <a:ext cx="121917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"/>
          <p:cNvSpPr txBox="1"/>
          <p:nvPr/>
        </p:nvSpPr>
        <p:spPr>
          <a:xfrm>
            <a:off x="3841585" y="1428750"/>
            <a:ext cx="7749900" cy="222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7625" lIns="47625" spcFirstLastPara="1" rIns="47625" wrap="square" tIns="47625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NGHIÊN CỨU VÀ ỨNG DỤNG MÔ HÌNH BERT</a:t>
            </a:r>
          </a:p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CHO BÀI TOÁN PHÂN LOẠI CẢM XÚC ĐÁNH GIÁ KHÁCH SẠN</a:t>
            </a:r>
          </a:p>
        </p:txBody>
      </p:sp>
      <p:sp>
        <p:nvSpPr>
          <p:cNvPr id="255" name="Google Shape;255;p1"/>
          <p:cNvSpPr txBox="1"/>
          <p:nvPr/>
        </p:nvSpPr>
        <p:spPr>
          <a:xfrm>
            <a:off x="3841585" y="4191000"/>
            <a:ext cx="7749900" cy="184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7625" lIns="47625" spcFirstLastPara="1" rIns="47625" wrap="square" tIns="47625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Arial"/>
              </a:defRPr>
            </a:pPr>
            <a:r>
              <a:t>Học phần: Trí tuệ Nhân tạo (Artificial Intelligence)</a:t>
            </a:r>
          </a:p>
          <a:p>
            <a:pPr algn="l">
              <a:defRPr sz="1300" b="0">
                <a:solidFill>
                  <a:srgbClr val="E2E8F0"/>
                </a:solidFill>
                <a:latin typeface="Arial"/>
              </a:defRPr>
            </a:pPr>
            <a:r>
              <a:t>Giảng viên hướng dẫn: TS. Huỳnh Hữu Hưng</a:t>
            </a:r>
          </a:p>
          <a:p>
            <a:pPr algn="l">
              <a:defRPr sz="1300" b="0">
                <a:solidFill>
                  <a:srgbClr val="E2E8F0"/>
                </a:solidFill>
                <a:latin typeface="Arial"/>
              </a:defRPr>
            </a:pPr>
            <a:r>
              <a:t>Sinh viên thực hiện: [Họ và tên sinh viên / Nhóm thực hiện]</a:t>
            </a:r>
          </a:p>
          <a:p>
            <a:pPr algn="l">
              <a:defRPr sz="1300" b="0">
                <a:solidFill>
                  <a:srgbClr val="E2E8F0"/>
                </a:solidFill>
                <a:latin typeface="Arial"/>
              </a:defRPr>
            </a:pPr>
            <a:r>
              <a:t>Đơn vị: Trường Đại học Bách Khoa – Đại học Đà Nẵng</a:t>
            </a:r>
          </a:p>
          <a:p>
            <a:pPr algn="l">
              <a:defRPr sz="1300" b="0">
                <a:solidFill>
                  <a:srgbClr val="E2E8F0"/>
                </a:solidFill>
                <a:latin typeface="Arial"/>
              </a:defRPr>
            </a:pPr>
            <a:r>
              <a:t>Tháng 09/2026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15"/>
          <p:cNvSpPr txBox="1"/>
          <p:nvPr/>
        </p:nvSpPr>
        <p:spPr>
          <a:xfrm>
            <a:off x="1584824" y="2646289"/>
            <a:ext cx="3555347" cy="187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TRÂN TRỌNG CẢM ƠN!</a:t>
            </a:r>
          </a:p>
        </p:txBody>
      </p:sp>
      <p:sp>
        <p:nvSpPr>
          <p:cNvPr id="692" name="Google Shape;692;p15"/>
          <p:cNvSpPr/>
          <p:nvPr/>
        </p:nvSpPr>
        <p:spPr>
          <a:xfrm>
            <a:off x="5140171" y="2183906"/>
            <a:ext cx="51215" cy="2032987"/>
          </a:xfrm>
          <a:prstGeom prst="rect">
            <a:avLst/>
          </a:prstGeom>
          <a:solidFill>
            <a:srgbClr val="FFF106"/>
          </a:solidFill>
          <a:ln cap="flat" cmpd="sng" w="12700">
            <a:solidFill>
              <a:srgbClr val="08518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TextBox 692"/>
          <p:cNvSpPr txBox="1"/>
          <p:nvPr/>
        </p:nvSpPr>
        <p:spPr>
          <a:xfrm>
            <a:off x="5303520" y="1645920"/>
            <a:ext cx="6400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Arial"/>
              </a:defRPr>
            </a:pPr>
            <a:r>
              <a:t>ĐỀ TÀI: NGHIÊN CỨU VÀ ỨNG DỤNG MÔ HÌNH BERT</a:t>
            </a:r>
          </a:p>
          <a:p>
            <a:pPr algn="l">
              <a:defRPr sz="1350" b="1">
                <a:solidFill>
                  <a:srgbClr val="FFFFFF"/>
                </a:solidFill>
                <a:latin typeface="Arial"/>
              </a:defRPr>
            </a:pPr>
            <a:r>
              <a:t>CHO BÀI TOÁN PHÂN LOẠI CẢM XÚC ĐÁNH GIÁ KHÁCH SẠN</a:t>
            </a:r>
          </a:p>
          <a:p>
            <a:pPr algn="l">
              <a:defRPr sz="1350" b="1">
                <a:solidFill>
                  <a:srgbClr val="FFFFFF"/>
                </a:solidFill>
                <a:latin typeface="Arial"/>
              </a:defRPr>
            </a:pPr>
          </a:p>
          <a:p>
            <a:pPr algn="l">
              <a:defRPr sz="1350" b="1">
                <a:solidFill>
                  <a:srgbClr val="FFFFFF"/>
                </a:solidFill>
                <a:latin typeface="Arial"/>
              </a:defRPr>
            </a:pPr>
            <a:r>
              <a:t>Học phần: Trí tuệ Nhân tạo (Artificial Intelligence)</a:t>
            </a:r>
          </a:p>
          <a:p>
            <a:pPr algn="l">
              <a:defRPr sz="1350" b="1">
                <a:solidFill>
                  <a:srgbClr val="FFFFFF"/>
                </a:solidFill>
                <a:latin typeface="Arial"/>
              </a:defRPr>
            </a:pPr>
            <a:r>
              <a:t>Giảng viên hướng dẫn: TS. Huỳnh Hữu Hưng</a:t>
            </a:r>
          </a:p>
          <a:p>
            <a:pPr algn="l">
              <a:defRPr sz="1350" b="1">
                <a:solidFill>
                  <a:srgbClr val="FFFFFF"/>
                </a:solidFill>
                <a:latin typeface="Arial"/>
              </a:defRPr>
            </a:pPr>
            <a:r>
              <a:t>Sinh viên thực hiện: [Họ và tên sinh viên / Nhóm thực hiện]</a:t>
            </a:r>
          </a:p>
          <a:p>
            <a:pPr algn="l">
              <a:defRPr sz="1350" b="1">
                <a:solidFill>
                  <a:srgbClr val="FFFFFF"/>
                </a:solidFill>
                <a:latin typeface="Arial"/>
              </a:defRPr>
            </a:pPr>
            <a:r>
              <a:t>Đơn vị: Trường Đại học Bách Khoa – Đại học Đà Nẵng</a:t>
            </a:r>
          </a:p>
          <a:p>
            <a:pPr algn="l">
              <a:defRPr sz="1350" b="1">
                <a:solidFill>
                  <a:srgbClr val="FFFFFF"/>
                </a:solidFill>
                <a:latin typeface="Arial"/>
              </a:defRPr>
            </a:pPr>
          </a:p>
          <a:p>
            <a:pPr algn="l">
              <a:defRPr sz="1350" b="1">
                <a:solidFill>
                  <a:srgbClr val="FFFFFF"/>
                </a:solidFill>
                <a:latin typeface="Arial"/>
              </a:defRPr>
            </a:pPr>
            <a:r>
              <a:t>XIN KÍNH MỜI QUÝ THẦY CÔ VÀ HỘI ĐỒNG ĐẶT CÂU HỎI!</a:t>
            </a:r>
          </a:p>
          <a:p>
            <a:pPr algn="l">
              <a:defRPr sz="1350" b="1">
                <a:solidFill>
                  <a:srgbClr val="FFFFFF"/>
                </a:solidFill>
                <a:latin typeface="Arial"/>
              </a:defRPr>
            </a:pPr>
            <a:r>
              <a:t>(PHIÊN HỎI &amp; ĐÁP — Q&amp;A)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B6CB0"/>
                </a:solidFill>
                <a:latin typeface="Arial"/>
              </a:defRPr>
            </a:pPr>
            <a:r>
              <a:t>CHƯƠNG 1: TỔNG QUAN</a:t>
            </a:r>
          </a:p>
          <a:p>
            <a:pPr>
              <a:defRPr sz="2000" b="1">
                <a:solidFill>
                  <a:srgbClr val="1A365D"/>
                </a:solidFill>
                <a:latin typeface="Arial"/>
              </a:defRPr>
            </a:pPr>
            <a:r>
              <a:t>BỐI CẢNH BÀI TOÁN &amp; MỤC TIÊU NGHIÊN CỨU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645920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327648"/>
            <a:ext cx="1072591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82512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718096"/>
                </a:solidFill>
                <a:latin typeface="Arial"/>
              </a:defRPr>
            </a:pPr>
            <a:r>
              <a:t>Đồ án Trí tuệ Nhân tạo — Mô hình BERT Phân loại Cảm xúc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382512"/>
            <a:ext cx="29535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2B6CB0"/>
                </a:solidFill>
                <a:latin typeface="Arial"/>
              </a:defRPr>
            </a:pPr>
            <a:r>
              <a:t>Trường Đại học Bách Khoa – ĐHĐN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1097280" cy="548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417320"/>
            <a:ext cx="516636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5166360" cy="438912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THÁCH THỨC BÀI TOÁN (PROBLEM)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47672"/>
            <a:ext cx="4892040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300">
                <a:solidFill>
                  <a:srgbClr val="1A365D"/>
                </a:solidFill>
              </a:rPr>
              <a:t>• Phân loại cảm xúc trực tuyến:</a:t>
            </a:r>
            <a:r>
              <a:rPr b="0" sz="1300">
                <a:solidFill>
                  <a:srgbClr val="2D3748"/>
                </a:solidFill>
              </a:rPr>
              <a:t> Nhu cầu tự động hóa phân tích hàng ngàn đánh giá khách sạn để nâng cao chất lượng dịch vụ lưu trú.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1A365D"/>
                </a:solidFill>
              </a:rPr>
              <a:t>• Ngữ cảnh phức tạp:</a:t>
            </a:r>
            <a:r>
              <a:rPr b="0" sz="1300">
                <a:solidFill>
                  <a:srgbClr val="2D3748"/>
                </a:solidFill>
              </a:rPr>
              <a:t> Ngôn ngữ đánh giá chứa nhiều câu đa ý, cảm xúc hỗn hợp (mixed sentiment) và cấu trúc phủ định tinh vi.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1A365D"/>
                </a:solidFill>
              </a:rPr>
              <a:t>• Hạn chế mô hình cũ:</a:t>
            </a:r>
            <a:r>
              <a:rPr b="0" sz="1300">
                <a:solidFill>
                  <a:srgbClr val="2D3748"/>
                </a:solidFill>
              </a:rPr>
              <a:t> Mô hình truyền thống (BoW/TF-IDF) bỏ qua trật tự từ; mô hình tuần tự (RNN/LSTM) gặp điểm nghẽn tính toán và suy giảm ngữ cảnh xa.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16636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166360" cy="438912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MỤC TIÊU &amp; ĐÓNG GÓP (OBJECTIVE)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47672"/>
            <a:ext cx="4892040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300">
                <a:solidFill>
                  <a:srgbClr val="1A365D"/>
                </a:solidFill>
              </a:rPr>
              <a:t>• Quy trình chuẩn mực khép kín:</a:t>
            </a:r>
            <a:r>
              <a:rPr b="0" sz="1300">
                <a:solidFill>
                  <a:srgbClr val="2D3748"/>
                </a:solidFill>
              </a:rPr>
              <a:t> Triển khai đầy đủ 6 giai đoạn AI Project Cycle; kiểm toán exact-match trước split và case-normalized hậu nghiệm.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1A365D"/>
                </a:solidFill>
              </a:rPr>
              <a:t>• Thực nghiệm đối chứng công bằng:</a:t>
            </a:r>
            <a:r>
              <a:rPr b="0" sz="1300">
                <a:solidFill>
                  <a:srgbClr val="2D3748"/>
                </a:solidFill>
              </a:rPr>
              <a:t> Huấn luyện mô hình cơ sở TF-IDF + Logistic Regression và Fine-tuning BERT (bert-base-uncased) trên cùng dữ liệu chuẩn.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1A365D"/>
                </a:solidFill>
              </a:rPr>
              <a:t>• Đánh giá khách quan &amp; Triển khai:</a:t>
            </a:r>
            <a:r>
              <a:rPr b="0" sz="1300">
                <a:solidFill>
                  <a:srgbClr val="2D3748"/>
                </a:solidFill>
              </a:rPr>
              <a:t> Đóng băng và kiểm thử trên Held-Out Test Set (3,949 mẫu); phân tích định tính ca lỗi và đóng gói Web UI FastAPI.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B6CB0"/>
                </a:solidFill>
                <a:latin typeface="Arial"/>
              </a:defRPr>
            </a:pPr>
            <a:r>
              <a:t>CHƯƠNG 2: PHƯƠNG PHÁP LUẬN</a:t>
            </a:r>
          </a:p>
          <a:p>
            <a:pPr>
              <a:defRPr sz="2000" b="1">
                <a:solidFill>
                  <a:srgbClr val="1A365D"/>
                </a:solidFill>
                <a:latin typeface="Arial"/>
              </a:defRPr>
            </a:pPr>
            <a:r>
              <a:t>QUY TRÌNH NGHIÊN CỨU CHUẨN MỰC (AI PROJECT CYCLE)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645920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327648"/>
            <a:ext cx="1072591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82512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718096"/>
                </a:solidFill>
                <a:latin typeface="Arial"/>
              </a:defRPr>
            </a:pPr>
            <a:r>
              <a:t>Đồ án Trí tuệ Nhân tạo — Mô hình BERT Phân loại Cảm xúc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382512"/>
            <a:ext cx="29535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2B6CB0"/>
                </a:solidFill>
                <a:latin typeface="Arial"/>
              </a:defRPr>
            </a:pPr>
            <a:r>
              <a:t>Trường Đại học Bách Khoa – ĐHĐN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1097280" cy="548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645920"/>
            <a:ext cx="1389888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1389888" cy="5943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31720"/>
            <a:ext cx="124358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1A365D"/>
                </a:solidFill>
                <a:latin typeface="Arial"/>
              </a:defRPr>
            </a:pPr>
            <a:r>
              <a:t>Data Audit</a:t>
            </a:r>
          </a:p>
          <a:p>
            <a:pPr algn="ctr">
              <a:defRPr sz="1000">
                <a:solidFill>
                  <a:srgbClr val="2D3748"/>
                </a:solidFill>
                <a:latin typeface="Arial"/>
              </a:defRPr>
            </a:pPr>
            <a:r>
              <a:t>Loại bỏ 255 mẫu</a:t>
            </a:r>
            <a:br/>
            <a:r>
              <a:t>lỗi &amp; trùng lặp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1645920"/>
            <a:ext cx="1389888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0" y="1645920"/>
            <a:ext cx="1389888" cy="5943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2331720"/>
            <a:ext cx="124358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1A365D"/>
                </a:solidFill>
                <a:latin typeface="Arial"/>
              </a:defRPr>
            </a:pPr>
            <a:r>
              <a:t>Token EDA</a:t>
            </a:r>
          </a:p>
          <a:p>
            <a:pPr algn="ctr">
              <a:defRPr sz="1000">
                <a:solidFill>
                  <a:srgbClr val="2D3748"/>
                </a:solidFill>
                <a:latin typeface="Arial"/>
              </a:defRPr>
            </a:pPr>
            <a:r>
              <a:t>Phân tích độ dài,</a:t>
            </a:r>
            <a:br/>
            <a:r>
              <a:t>chọn MAX_LEN=128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1645920"/>
            <a:ext cx="1389888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0" y="1645920"/>
            <a:ext cx="1389888" cy="5943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13632" y="2331720"/>
            <a:ext cx="124358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1A365D"/>
                </a:solidFill>
                <a:latin typeface="Arial"/>
              </a:defRPr>
            </a:pPr>
            <a:r>
              <a:t>Data Split</a:t>
            </a:r>
          </a:p>
          <a:p>
            <a:pPr algn="ctr">
              <a:defRPr sz="1000">
                <a:solidFill>
                  <a:srgbClr val="2D3748"/>
                </a:solidFill>
                <a:latin typeface="Arial"/>
              </a:defRPr>
            </a:pPr>
            <a:r>
              <a:t>Stratified 70/10/20</a:t>
            </a:r>
            <a:br/>
            <a:r>
              <a:t>với seed 42 cố định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60" y="1645920"/>
            <a:ext cx="1389888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94960" y="1645920"/>
            <a:ext cx="1389888" cy="5943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68112" y="2331720"/>
            <a:ext cx="124358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1A365D"/>
                </a:solidFill>
                <a:latin typeface="Arial"/>
              </a:defRPr>
            </a:pPr>
            <a:r>
              <a:t>Baseline</a:t>
            </a:r>
          </a:p>
          <a:p>
            <a:pPr algn="ctr">
              <a:defRPr sz="1000">
                <a:solidFill>
                  <a:srgbClr val="2D3748"/>
                </a:solidFill>
                <a:latin typeface="Arial"/>
              </a:defRPr>
            </a:pPr>
            <a:r>
              <a:t>TF-IDF (10k feats)</a:t>
            </a:r>
            <a:br/>
            <a:r>
              <a:t>+ Logistic Regr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1645920"/>
            <a:ext cx="1389888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49440" y="1645920"/>
            <a:ext cx="1389888" cy="5943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2331720"/>
            <a:ext cx="124358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1A365D"/>
                </a:solidFill>
                <a:latin typeface="Arial"/>
              </a:defRPr>
            </a:pPr>
            <a:r>
              <a:t>BERT Train</a:t>
            </a:r>
          </a:p>
          <a:p>
            <a:pPr algn="ctr">
              <a:defRPr sz="1000">
                <a:solidFill>
                  <a:srgbClr val="2D3748"/>
                </a:solidFill>
                <a:latin typeface="Arial"/>
              </a:defRPr>
            </a:pPr>
            <a:r>
              <a:t>Full fine-tuning,</a:t>
            </a:r>
            <a:br/>
            <a:r>
              <a:t>chọn checkpoint F1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1645920"/>
            <a:ext cx="1389888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03920" y="1645920"/>
            <a:ext cx="1389888" cy="5943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7072" y="2331720"/>
            <a:ext cx="124358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1A365D"/>
                </a:solidFill>
                <a:latin typeface="Arial"/>
              </a:defRPr>
            </a:pPr>
            <a:r>
              <a:t>Frozen Test</a:t>
            </a:r>
          </a:p>
          <a:p>
            <a:pPr algn="ctr">
              <a:defRPr sz="1000">
                <a:solidFill>
                  <a:srgbClr val="2D3748"/>
                </a:solidFill>
                <a:latin typeface="Arial"/>
              </a:defRPr>
            </a:pPr>
            <a:r>
              <a:t>Đánh giá 1 lần duy nhất</a:t>
            </a:r>
            <a:br/>
            <a:r>
              <a:t>trên 3,949 mẫu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0" y="1645920"/>
            <a:ext cx="1389888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058400" y="1645920"/>
            <a:ext cx="1389888" cy="5943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31552" y="2331720"/>
            <a:ext cx="124358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1A365D"/>
                </a:solidFill>
                <a:latin typeface="Arial"/>
              </a:defRPr>
            </a:pPr>
            <a:r>
              <a:t>Error &amp; Demo</a:t>
            </a:r>
          </a:p>
          <a:p>
            <a:pPr algn="ctr">
              <a:defRPr sz="1000">
                <a:solidFill>
                  <a:srgbClr val="2D3748"/>
                </a:solidFill>
                <a:latin typeface="Arial"/>
              </a:defRPr>
            </a:pPr>
            <a:r>
              <a:t>Kiểm toán 20 ca lỗi;</a:t>
            </a:r>
            <a:br/>
            <a:r>
              <a:t>Web UI FastAPI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166360"/>
            <a:ext cx="10725912" cy="868680"/>
          </a:xfrm>
          <a:prstGeom prst="roundRect">
            <a:avLst/>
          </a:prstGeom>
          <a:solidFill>
            <a:srgbClr val="EBF8FF"/>
          </a:solidFill>
          <a:ln w="1524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365D"/>
                </a:solidFill>
                <a:latin typeface="Arial"/>
              </a:defRPr>
            </a:pPr>
            <a:r>
              <a:t>Nguyên tắc cốt lõi: Xây dựng độc lập từ đầu (from scratch) • Kiểm soát giao thoa dữ liệu • Đóng băng siêu tham số trước khi mở niêm phong tập kiểm thử (Held-Out Test Set).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B6CB0"/>
                </a:solidFill>
                <a:latin typeface="Arial"/>
              </a:defRPr>
            </a:pPr>
            <a:r>
              <a:t>CHƯƠNG 2: DỮ LIỆU &amp; PHƯƠNG PHÁP</a:t>
            </a:r>
          </a:p>
          <a:p>
            <a:pPr>
              <a:defRPr sz="2000" b="1">
                <a:solidFill>
                  <a:srgbClr val="1A365D"/>
                </a:solidFill>
                <a:latin typeface="Arial"/>
              </a:defRPr>
            </a:pPr>
            <a:r>
              <a:t>TẬP DỮ LIỆU &amp; KẾT QUẢ KIỂM TOÁN CHỐNG RÒ RỈ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645920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327648"/>
            <a:ext cx="1072591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82512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718096"/>
                </a:solidFill>
                <a:latin typeface="Arial"/>
              </a:defRPr>
            </a:pPr>
            <a:r>
              <a:t>Đồ án Trí tuệ Nhân tạo — Mô hình BERT Phân loại Cảm xúc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382512"/>
            <a:ext cx="29535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2B6CB0"/>
                </a:solidFill>
                <a:latin typeface="Arial"/>
              </a:defRPr>
            </a:pPr>
            <a:r>
              <a:t>Trường Đại học Bách Khoa – ĐHĐN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1097280" cy="548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463040"/>
            <a:ext cx="51663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48920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1A365D"/>
                </a:solidFill>
                <a:latin typeface="Arial"/>
              </a:defRPr>
            </a:pPr>
            <a:r>
              <a:t>20,000</a:t>
            </a:r>
          </a:p>
          <a:p>
            <a:pPr algn="ctr">
              <a:defRPr sz="1300" b="1">
                <a:solidFill>
                  <a:srgbClr val="1A365D"/>
                </a:solidFill>
                <a:latin typeface="Arial"/>
              </a:defRPr>
            </a:pPr>
            <a:r>
              <a:t>MẪU DỮ LIỆU THÔ BAN ĐẦU</a:t>
            </a:r>
          </a:p>
          <a:p>
            <a:pPr algn="ctr">
              <a:defRPr sz="1000">
                <a:solidFill>
                  <a:srgbClr val="2D3748"/>
                </a:solidFill>
                <a:latin typeface="Arial"/>
              </a:defRPr>
            </a:pPr>
            <a:r>
              <a:t>Tập dữ liệu đánh giá khách sạn tiếng Anh do GV cung cấp;</a:t>
            </a:r>
            <a:br/>
            <a:r>
              <a:t>chứa các định dạng đặc thù ('No Negative', 'No Positive').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63040"/>
            <a:ext cx="5166360" cy="2011680"/>
          </a:xfrm>
          <a:prstGeom prst="roundRect">
            <a:avLst/>
          </a:prstGeom>
          <a:solidFill>
            <a:srgbClr val="FFF5F5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48920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C53030"/>
                </a:solidFill>
                <a:latin typeface="Arial"/>
              </a:defRPr>
            </a:pPr>
            <a:r>
              <a:t>255</a:t>
            </a:r>
          </a:p>
          <a:p>
            <a:pPr algn="ctr">
              <a:defRPr sz="1300" b="1">
                <a:solidFill>
                  <a:srgbClr val="1A365D"/>
                </a:solidFill>
                <a:latin typeface="Arial"/>
              </a:defRPr>
            </a:pPr>
            <a:r>
              <a:t>MẪU LỖI ĐÃ LOẠI BỎ (DATA AUDIT)</a:t>
            </a:r>
          </a:p>
          <a:p>
            <a:pPr algn="ctr">
              <a:defRPr sz="1000">
                <a:solidFill>
                  <a:srgbClr val="2D3748"/>
                </a:solidFill>
                <a:latin typeface="Arial"/>
              </a:defRPr>
            </a:pPr>
            <a:r>
              <a:t>Loại bỏ 5 mẫu rỗng, 127 mẫu nhãn xung đột (từ 20 văn bản)</a:t>
            </a:r>
            <a:br/>
            <a:r>
              <a:t>và 123 mẫu trùng lặp tuyệt đối trước khi phân chia.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5166360" cy="21031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886199"/>
            <a:ext cx="48920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276749"/>
                </a:solidFill>
                <a:latin typeface="Arial"/>
              </a:defRPr>
            </a:pPr>
            <a:r>
              <a:t>19,745</a:t>
            </a:r>
          </a:p>
          <a:p>
            <a:pPr algn="ctr">
              <a:defRPr sz="1300" b="1">
                <a:solidFill>
                  <a:srgbClr val="1A365D"/>
                </a:solidFill>
                <a:latin typeface="Arial"/>
              </a:defRPr>
            </a:pPr>
            <a:r>
              <a:t>TẬP DỮ LIỆU SẠCH DUY NHẤT</a:t>
            </a:r>
          </a:p>
          <a:p>
            <a:pPr algn="ctr">
              <a:defRPr sz="1000">
                <a:solidFill>
                  <a:srgbClr val="2D3748"/>
                </a:solidFill>
                <a:latin typeface="Arial"/>
              </a:defRPr>
            </a:pPr>
            <a:r>
              <a:t>Cân bằng lớp lý tưởng: 9,921 Tiêu cực (50.25%) và 9,824 Tích cực (49.75%).</a:t>
            </a:r>
            <a:br/>
            <a:r>
              <a:t>Bảo đảm tính đại diện khách quan cho bài toán.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49039"/>
            <a:ext cx="516636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886199"/>
            <a:ext cx="48920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2B6CB0"/>
                </a:solidFill>
                <a:latin typeface="Arial"/>
              </a:defRPr>
            </a:pPr>
            <a:r>
              <a:t>70% / 10% / 20%</a:t>
            </a:r>
          </a:p>
          <a:p>
            <a:pPr algn="ctr">
              <a:defRPr sz="1300" b="1">
                <a:solidFill>
                  <a:srgbClr val="1A365D"/>
                </a:solidFill>
                <a:latin typeface="Arial"/>
              </a:defRPr>
            </a:pPr>
            <a:r>
              <a:t>STRATIFIED SPLIT (SEED 42)</a:t>
            </a:r>
          </a:p>
          <a:p>
            <a:pPr algn="ctr">
              <a:defRPr sz="1000">
                <a:solidFill>
                  <a:srgbClr val="2D3748"/>
                </a:solidFill>
                <a:latin typeface="Arial"/>
              </a:defRPr>
            </a:pPr>
            <a:r>
              <a:t>Train: 13,821 | Validation: 1,975 | Test: 3,949</a:t>
            </a:r>
            <a:br/>
            <a:r>
              <a:t>Exact overlap: 0; post-hoc casefold audit: 3 / 10 / 2 cặp.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B6CB0"/>
                </a:solidFill>
                <a:latin typeface="Arial"/>
              </a:defRPr>
            </a:pPr>
            <a:r>
              <a:t>CHƯƠNG 2: DỮ LIỆU &amp; PHƯƠNG PHÁP</a:t>
            </a:r>
          </a:p>
          <a:p>
            <a:pPr>
              <a:defRPr sz="2000" b="1">
                <a:solidFill>
                  <a:srgbClr val="1A365D"/>
                </a:solidFill>
                <a:latin typeface="Arial"/>
              </a:defRPr>
            </a:pPr>
            <a:r>
              <a:t>PHÂN BỐ ĐỘ DÀI TOKEN &amp; QUYẾT ĐỊNH MAX_LENGTH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645920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327648"/>
            <a:ext cx="1072591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82512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718096"/>
                </a:solidFill>
                <a:latin typeface="Arial"/>
              </a:defRPr>
            </a:pPr>
            <a:r>
              <a:t>Đồ án Trí tuệ Nhân tạo — Mô hình BERT Phân loại Cảm xúc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382512"/>
            <a:ext cx="29535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2B6CB0"/>
                </a:solidFill>
                <a:latin typeface="Arial"/>
              </a:defRPr>
            </a:pPr>
            <a:r>
              <a:t>Trường Đại học Bách Khoa – ĐHĐN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1097280" cy="548640"/>
          </a:xfrm>
          <a:prstGeom prst="rect">
            <a:avLst/>
          </a:prstGeom>
        </p:spPr>
      </p:pic>
      <p:pic>
        <p:nvPicPr>
          <p:cNvPr id="8" name="Picture 7" descr="token_length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5212080" cy="4297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1463040"/>
            <a:ext cx="521208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00200"/>
            <a:ext cx="493776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1A365D"/>
                </a:solidFill>
                <a:latin typeface="Arial"/>
              </a:defRPr>
            </a:pPr>
            <a:r>
              <a:t>p95 = 121 | p99 = 168</a:t>
            </a:r>
          </a:p>
          <a:p>
            <a:pPr algn="ctr">
              <a:defRPr sz="1300" b="1">
                <a:solidFill>
                  <a:srgbClr val="1A365D"/>
                </a:solidFill>
                <a:latin typeface="Arial"/>
              </a:defRPr>
            </a:pPr>
            <a:r>
              <a:t>PHÂN VỊ ĐỘ DÀI TOKEN BERT</a:t>
            </a:r>
          </a:p>
          <a:p>
            <a:pPr algn="ctr">
              <a:defRPr sz="1000">
                <a:solidFill>
                  <a:srgbClr val="2D3748"/>
                </a:solidFill>
                <a:latin typeface="Arial"/>
              </a:defRPr>
            </a:pPr>
            <a:r>
              <a:t>Trung vị: 30 tokens | Trung bình: 42.33 tokens. Đại đa số đánh giá có độ dài ngắn và súc tích.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926080"/>
            <a:ext cx="521208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063240"/>
            <a:ext cx="493776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2B6CB0"/>
                </a:solidFill>
                <a:latin typeface="Arial"/>
              </a:defRPr>
            </a:pPr>
            <a:r>
              <a:t>Tỷ lệ &gt; 128: chỉ 3.93%</a:t>
            </a:r>
          </a:p>
          <a:p>
            <a:pPr algn="ctr">
              <a:defRPr sz="1300" b="1">
                <a:solidFill>
                  <a:srgbClr val="1A365D"/>
                </a:solidFill>
                <a:latin typeface="Arial"/>
              </a:defRPr>
            </a:pPr>
            <a:r>
              <a:t>ĐỘ BAO PHỦ NGỮ CẢNH</a:t>
            </a:r>
          </a:p>
          <a:p>
            <a:pPr algn="ctr">
              <a:defRPr sz="1000">
                <a:solidFill>
                  <a:srgbClr val="2D3748"/>
                </a:solidFill>
                <a:latin typeface="Arial"/>
              </a:defRPr>
            </a:pPr>
            <a:r>
              <a:t>Trong Train + Validation, 3.93% văn bản (620 mẫu) vượt 128 tokens; 96.07% không vượt ngưỡng.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389120"/>
            <a:ext cx="5212080" cy="13716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2D3748"/>
                </a:solidFill>
                <a:latin typeface="Arial"/>
              </a:defRPr>
            </a:pPr>
            <a:r>
              <a:t>QUYẾT ĐỊNH CẤU HÌNH: MAX_LENGTH = 128</a:t>
            </a:r>
          </a:p>
          <a:p>
            <a:pPr algn="l">
              <a:defRPr sz="1100" b="0">
                <a:solidFill>
                  <a:srgbClr val="2D3748"/>
                </a:solidFill>
                <a:latin typeface="Arial"/>
              </a:defRPr>
            </a:pPr>
            <a:r>
              <a:t>• Giảm 4x kích thước ma trận Attention O(L^2) và bộ nhớ kích hoạt so với ngưỡng 256.</a:t>
            </a:r>
          </a:p>
          <a:p>
            <a:pPr algn="l">
              <a:defRPr sz="1100" b="0">
                <a:solidFill>
                  <a:srgbClr val="2D3748"/>
                </a:solidFill>
                <a:latin typeface="Arial"/>
              </a:defRPr>
            </a:pPr>
            <a:r>
              <a:t>• Cân đối tối ưu giữa việc giữ trọn vẹn ngữ cảnh và khả năng huấn luyện ổn định trên CPU.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B6CB0"/>
                </a:solidFill>
                <a:latin typeface="Arial"/>
              </a:defRPr>
            </a:pPr>
            <a:r>
              <a:t>CHƯƠNG 2: DỮ LIỆU &amp; PHƯƠNG PHÁP</a:t>
            </a:r>
          </a:p>
          <a:p>
            <a:pPr>
              <a:defRPr sz="2000" b="1">
                <a:solidFill>
                  <a:srgbClr val="1A365D"/>
                </a:solidFill>
                <a:latin typeface="Arial"/>
              </a:defRPr>
            </a:pPr>
            <a:r>
              <a:t>THIẾT LẬP THỰC NGHIỆM ĐỐI CHỨNG: BASELINE VS BERT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645920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327648"/>
            <a:ext cx="1072591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82512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718096"/>
                </a:solidFill>
                <a:latin typeface="Arial"/>
              </a:defRPr>
            </a:pPr>
            <a:r>
              <a:t>Đồ án Trí tuệ Nhân tạo — Mô hình BERT Phân loại Cảm xúc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382512"/>
            <a:ext cx="29535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2B6CB0"/>
                </a:solidFill>
                <a:latin typeface="Arial"/>
              </a:defRPr>
            </a:pPr>
            <a:r>
              <a:t>Trường Đại học Bách Khoa – ĐHĐN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1097280" cy="548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417320"/>
            <a:ext cx="516636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5166360" cy="438912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MÔ HÌNH CƠ SỞ (BASELINE)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47672"/>
            <a:ext cx="4892040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1A365D"/>
                </a:solidFill>
              </a:rPr>
              <a:t>• Đặc trưng:</a:t>
            </a:r>
            <a:r>
              <a:rPr b="0" sz="1200">
                <a:solidFill>
                  <a:srgbClr val="2D3748"/>
                </a:solidFill>
              </a:rPr>
              <a:t> TF-IDF (Unigrams + Bigrams), từ điển max_features = 10,000.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A365D"/>
                </a:solidFill>
              </a:rPr>
              <a:t>• Biến đổi tần suất:</a:t>
            </a:r>
            <a:r>
              <a:rPr b="0" sz="1200">
                <a:solidFill>
                  <a:srgbClr val="2D3748"/>
                </a:solidFill>
              </a:rPr>
              <a:t> sublinear_tf = True (1 + log(tf)) hạn chế ảnh hưởng của từ xuất hiện quá nhiều.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A365D"/>
                </a:solidFill>
              </a:rPr>
              <a:t>• Bộ phân loại:</a:t>
            </a:r>
            <a:r>
              <a:rPr b="0" sz="1200">
                <a:solidFill>
                  <a:srgbClr val="2D3748"/>
                </a:solidFill>
              </a:rPr>
              <a:t> Logistic Regression với chuẩn hóa L2 (Ridge), C = 1.0, solver lbfgs.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A365D"/>
                </a:solidFill>
              </a:rPr>
              <a:t>• Vai trò phương pháp:</a:t>
            </a:r>
            <a:r>
              <a:rPr b="0" sz="1200">
                <a:solidFill>
                  <a:srgbClr val="2D3748"/>
                </a:solidFill>
              </a:rPr>
              <a:t> Tạo mốc đối chứng chuẩn mực theo nguyên tắc 'Start simple to complex models'.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A365D"/>
                </a:solidFill>
              </a:rPr>
              <a:t>• Đặc tính vận hành:</a:t>
            </a:r>
            <a:r>
              <a:rPr b="0" sz="1200">
                <a:solidFill>
                  <a:srgbClr val="2D3748"/>
                </a:solidFill>
              </a:rPr>
              <a:t> Huấn luyện cực nhanh (0.68s), suy luận ~28,700 mẫu/giây trên CPU.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16636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166360" cy="438912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MÔ HÌNH CHÍNH (FINE-TUNED BERT)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47672"/>
            <a:ext cx="4892040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1A365D"/>
                </a:solidFill>
              </a:rPr>
              <a:t>• Mô hình gốc:</a:t>
            </a:r>
            <a:r>
              <a:rPr b="0" sz="1200">
                <a:solidFill>
                  <a:srgbClr val="2D3748"/>
                </a:solidFill>
              </a:rPr>
              <a:t> google-bert/bert-base-uncased (110M tham số, 12 layers, 12 heads).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A365D"/>
                </a:solidFill>
              </a:rPr>
              <a:t>• Cơ chế huấn luyện:</a:t>
            </a:r>
            <a:r>
              <a:rPr b="0" sz="1200">
                <a:solidFill>
                  <a:srgbClr val="2D3748"/>
                </a:solidFill>
              </a:rPr>
              <a:t> Full Fine-Tuning toàn bộ 110M tham số của Transformer Encoder.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A365D"/>
                </a:solidFill>
              </a:rPr>
              <a:t>• Siêu tham số tối ưu:</a:t>
            </a:r>
            <a:r>
              <a:rPr b="0" sz="1200">
                <a:solidFill>
                  <a:srgbClr val="2D3748"/>
                </a:solidFill>
              </a:rPr>
              <a:t> AdamW, lr = 2e-5, warmup ratio = 0.1, weight decay = 0.01.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A365D"/>
                </a:solidFill>
              </a:rPr>
              <a:t>• Batch size &amp; Epoch:</a:t>
            </a:r>
            <a:r>
              <a:rPr b="0" sz="1200">
                <a:solidFill>
                  <a:srgbClr val="2D3748"/>
                </a:solidFill>
              </a:rPr>
              <a:t> Batch size = 16, số epoch = 3 (2,592 steps), MAX_LENGTH = 128.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A365D"/>
                </a:solidFill>
              </a:rPr>
              <a:t>• Tiêu chí Checkpoint:</a:t>
            </a:r>
            <a:r>
              <a:rPr b="0" sz="1200">
                <a:solidFill>
                  <a:srgbClr val="2D3748"/>
                </a:solidFill>
              </a:rPr>
              <a:t> Tự động lưu checkpoint có Validation Macro F1 cao nhất (Epoch 3).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B6CB0"/>
                </a:solidFill>
                <a:latin typeface="Arial"/>
              </a:defRPr>
            </a:pPr>
            <a:r>
              <a:t>CHƯƠNG 3: KẾT QUẢ THỰC NGHIỆM</a:t>
            </a:r>
          </a:p>
          <a:p>
            <a:pPr>
              <a:defRPr sz="2000" b="1">
                <a:solidFill>
                  <a:srgbClr val="1A365D"/>
                </a:solidFill>
                <a:latin typeface="Arial"/>
              </a:defRPr>
            </a:pPr>
            <a:r>
              <a:t>QUÁ TRÌNH HUẤN LUYỆN BERT &amp; ĐỘNG LỰC HỌC TẬP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645920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327648"/>
            <a:ext cx="1072591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82512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718096"/>
                </a:solidFill>
                <a:latin typeface="Arial"/>
              </a:defRPr>
            </a:pPr>
            <a:r>
              <a:t>Đồ án Trí tuệ Nhân tạo — Mô hình BERT Phân loại Cảm xúc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382512"/>
            <a:ext cx="29535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2B6CB0"/>
                </a:solidFill>
                <a:latin typeface="Arial"/>
              </a:defRPr>
            </a:pPr>
            <a:r>
              <a:t>Trường Đại học Bách Khoa – ĐHĐN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1097280" cy="548640"/>
          </a:xfrm>
          <a:prstGeom prst="rect">
            <a:avLst/>
          </a:prstGeom>
        </p:spPr>
      </p:pic>
      <p:pic>
        <p:nvPicPr>
          <p:cNvPr id="8" name="Picture 7" descr="training_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5212080" cy="4297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1463040"/>
            <a:ext cx="52120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438912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TIẾN TRÌNH 3 EPOCHS TRÊN CPU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993392"/>
            <a:ext cx="493776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• Môi trường: PyTorch CPU (2.14.0+cpu) | Tổng thời gian: ~4.34 giờ (15,617s)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• Epoch 1: Train Loss (step avg) = 0.4385 | Val Acc = 83.14% | Val F1 = 0.8310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• Epoch 2: Train Loss (step avg) = 0.2877 | Val Acc = 83.90% | Val F1 = 0.8387</a:t>
            </a:r>
          </a:p>
          <a:p>
            <a:pPr>
              <a:spcAft>
                <a:spcPts val="400"/>
              </a:spcAft>
              <a:defRPr sz="1100" b="1">
                <a:solidFill>
                  <a:srgbClr val="276749"/>
                </a:solidFill>
                <a:latin typeface="Arial"/>
              </a:defRPr>
            </a:pPr>
            <a:r>
              <a:t>• Epoch 3: Train Loss (step avg) = 0.2022 | Val Acc = 83.90% | Val F1 = 0.8389 (Đỉnh)</a:t>
            </a:r>
          </a:p>
          <a:p>
            <a:pPr>
              <a:spcAft>
                <a:spcPts val="4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• Trainer aggregate training loss toàn bộ quá trình: 0.3071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77639"/>
            <a:ext cx="521208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3977639"/>
            <a:ext cx="5212080" cy="438912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LỰA CHỌN CHECKPOINT &amp; GIẢI THÍCH LOSS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4507991"/>
            <a:ext cx="493776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• Checkpoint được chọn: checkpoint-2592 (cuối Epoch 3, đạt đỉnh Validation Macro F1 = 83.89%).</a:t>
            </a:r>
          </a:p>
          <a:p>
            <a:pPr>
              <a:spcAft>
                <a:spcPts val="600"/>
              </a:spcAft>
              <a:defRPr sz="1100">
                <a:solidFill>
                  <a:srgbClr val="2D3748"/>
                </a:solidFill>
                <a:latin typeface="Arial"/>
              </a:defRPr>
            </a:pPr>
            <a:r>
              <a:t>• Hiện tượng Val Loss: Cross-entropy (-log p) phạt nặng độ tự tin ở một số ít mẫu biên mơ hồ khiến loss tăng nhẹ, trong khi phân loại nhãn cứng vẫn đạt hiệu năng đỉnh cao nhất.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B6CB0"/>
                </a:solidFill>
                <a:latin typeface="Arial"/>
              </a:defRPr>
            </a:pPr>
            <a:r>
              <a:t>CHƯƠNG 3: KẾT QUẢ THỰC NGHIỆM</a:t>
            </a:r>
          </a:p>
          <a:p>
            <a:pPr>
              <a:defRPr sz="2000" b="1">
                <a:solidFill>
                  <a:srgbClr val="1A365D"/>
                </a:solidFill>
                <a:latin typeface="Arial"/>
              </a:defRPr>
            </a:pPr>
            <a:r>
              <a:t>KẾT QUẢ SO SÁNH ĐỐI ĐẦU TRÊN HELD-OUT TEST SET (3,949 MẪU)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645920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327648"/>
            <a:ext cx="1072591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82512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718096"/>
                </a:solidFill>
                <a:latin typeface="Arial"/>
              </a:defRPr>
            </a:pPr>
            <a:r>
              <a:t>Đánh giá độc lập trên tập Held-Out Test Set 3,949 mẫu sau khi đóng băng hoàn toàn tham số mô hình.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382512"/>
            <a:ext cx="29535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2B6CB0"/>
                </a:solidFill>
                <a:latin typeface="Arial"/>
              </a:defRPr>
            </a:pPr>
            <a:r>
              <a:t>Trường Đại học Bách Khoa – ĐHĐN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1097280" cy="548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417320"/>
            <a:ext cx="3337560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3337560" cy="50292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BASELINE (TF-IDF + LR)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3154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3748"/>
                </a:solidFill>
                <a:latin typeface="Arial"/>
              </a:defRPr>
            </a:pPr>
            <a:r>
              <a:t>Accuracy:</a:t>
            </a:r>
          </a:p>
          <a:p>
            <a:pPr algn="ctr">
              <a:defRPr sz="2600" b="1">
                <a:solidFill>
                  <a:srgbClr val="1A365D"/>
                </a:solidFill>
                <a:latin typeface="Arial"/>
              </a:defRPr>
            </a:pPr>
            <a:r>
              <a:t>81.94%</a:t>
            </a:r>
          </a:p>
          <a:p>
            <a:pPr algn="ctr">
              <a:defRPr sz="1200" b="0">
                <a:solidFill>
                  <a:srgbClr val="2D3748"/>
                </a:solidFill>
                <a:latin typeface="Arial"/>
              </a:defRPr>
            </a:pPr>
          </a:p>
          <a:p>
            <a:pPr algn="ctr">
              <a:defRPr sz="2200" b="1">
                <a:solidFill>
                  <a:srgbClr val="2B6CB0"/>
                </a:solidFill>
                <a:latin typeface="Arial"/>
              </a:defRPr>
            </a:pPr>
            <a:r>
              <a:t>Macro F1-Score:</a:t>
            </a:r>
          </a:p>
          <a:p>
            <a:pPr algn="ctr">
              <a:defRPr sz="1200" b="0">
                <a:solidFill>
                  <a:srgbClr val="2D3748"/>
                </a:solidFill>
                <a:latin typeface="Arial"/>
              </a:defRPr>
            </a:pPr>
            <a:r>
              <a:t>0.8192</a:t>
            </a:r>
          </a:p>
          <a:p>
            <a:pPr algn="ctr">
              <a:defRPr sz="1200" b="0">
                <a:solidFill>
                  <a:srgbClr val="2D3748"/>
                </a:solidFill>
                <a:latin typeface="Arial"/>
              </a:defRPr>
            </a:pPr>
          </a:p>
          <a:p>
            <a:pPr algn="ctr">
              <a:defRPr sz="1200" b="0">
                <a:solidFill>
                  <a:srgbClr val="2D3748"/>
                </a:solidFill>
                <a:latin typeface="Arial"/>
              </a:defRPr>
            </a:pPr>
            <a:r>
              <a:t>Macro P / R: 0.8208 / 0.8193</a:t>
            </a:r>
          </a:p>
          <a:p>
            <a:pPr algn="ctr">
              <a:defRPr sz="1200" b="0">
                <a:solidFill>
                  <a:srgbClr val="2D3748"/>
                </a:solidFill>
                <a:latin typeface="Arial"/>
              </a:defRPr>
            </a:pPr>
            <a:r>
              <a:t>Tốc độ: 28,784 mẫu/giây (0.137s)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337560" cy="3383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37560" cy="50292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FINE-TUNED BERT (CHÍNH)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011680"/>
            <a:ext cx="3154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3748"/>
                </a:solidFill>
                <a:latin typeface="Arial"/>
              </a:defRPr>
            </a:pPr>
            <a:r>
              <a:t>Accuracy:</a:t>
            </a:r>
          </a:p>
          <a:p>
            <a:pPr algn="ctr">
              <a:defRPr sz="2600" b="1">
                <a:solidFill>
                  <a:srgbClr val="276749"/>
                </a:solidFill>
                <a:latin typeface="Arial"/>
              </a:defRPr>
            </a:pPr>
            <a:r>
              <a:t>84.83%</a:t>
            </a:r>
          </a:p>
          <a:p>
            <a:pPr algn="ctr">
              <a:defRPr sz="1200" b="0">
                <a:solidFill>
                  <a:srgbClr val="2D3748"/>
                </a:solidFill>
                <a:latin typeface="Arial"/>
              </a:defRPr>
            </a:pPr>
          </a:p>
          <a:p>
            <a:pPr algn="ctr">
              <a:defRPr sz="2200" b="1">
                <a:solidFill>
                  <a:srgbClr val="276749"/>
                </a:solidFill>
                <a:latin typeface="Arial"/>
              </a:defRPr>
            </a:pPr>
            <a:r>
              <a:t>Macro F1-Score:</a:t>
            </a:r>
          </a:p>
          <a:p>
            <a:pPr algn="ctr">
              <a:defRPr sz="1200" b="0">
                <a:solidFill>
                  <a:srgbClr val="2D3748"/>
                </a:solidFill>
                <a:latin typeface="Arial"/>
              </a:defRPr>
            </a:pPr>
            <a:r>
              <a:t>0.8483</a:t>
            </a:r>
          </a:p>
          <a:p>
            <a:pPr algn="ctr">
              <a:defRPr sz="1200" b="0">
                <a:solidFill>
                  <a:srgbClr val="2D3748"/>
                </a:solidFill>
                <a:latin typeface="Arial"/>
              </a:defRPr>
            </a:pPr>
          </a:p>
          <a:p>
            <a:pPr algn="ctr">
              <a:defRPr sz="1200" b="0">
                <a:solidFill>
                  <a:srgbClr val="2D3748"/>
                </a:solidFill>
                <a:latin typeface="Arial"/>
              </a:defRPr>
            </a:pPr>
            <a:r>
              <a:t>Macro P / R: 0.8486 / 0.8482</a:t>
            </a:r>
          </a:p>
          <a:p>
            <a:pPr algn="ctr">
              <a:defRPr sz="1200" b="0">
                <a:solidFill>
                  <a:srgbClr val="2D3748"/>
                </a:solidFill>
                <a:latin typeface="Arial"/>
              </a:defRPr>
            </a:pPr>
            <a:r>
              <a:t>Tốc độ: 12.85 mẫu/giây (307.3s)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17320"/>
            <a:ext cx="3410712" cy="33832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410712" cy="502920"/>
          </a:xfrm>
          <a:prstGeom prst="round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MỨC CẢI THIỆN ĐỐI CHỨNG (Δ)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011680"/>
            <a:ext cx="322783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3748"/>
                </a:solidFill>
                <a:latin typeface="Arial"/>
              </a:defRPr>
            </a:pPr>
            <a:r>
              <a:t>Accuracy Cải Thiện:</a:t>
            </a:r>
          </a:p>
          <a:p>
            <a:pPr algn="ctr">
              <a:defRPr sz="2000" b="1">
                <a:solidFill>
                  <a:srgbClr val="276749"/>
                </a:solidFill>
                <a:latin typeface="Arial"/>
              </a:defRPr>
            </a:pPr>
            <a:r>
              <a:t>+2.89 percentage points</a:t>
            </a:r>
          </a:p>
          <a:p>
            <a:pPr algn="ctr">
              <a:defRPr sz="1200" b="0">
                <a:solidFill>
                  <a:srgbClr val="2D3748"/>
                </a:solidFill>
                <a:latin typeface="Arial"/>
              </a:defRPr>
            </a:pPr>
          </a:p>
          <a:p>
            <a:pPr algn="ctr">
              <a:defRPr sz="2000" b="1">
                <a:solidFill>
                  <a:srgbClr val="276749"/>
                </a:solidFill>
                <a:latin typeface="Arial"/>
              </a:defRPr>
            </a:pPr>
            <a:r>
              <a:t>Macro F1 Cải Thiện:</a:t>
            </a:r>
          </a:p>
          <a:p>
            <a:pPr algn="ctr">
              <a:defRPr sz="1200" b="0">
                <a:solidFill>
                  <a:srgbClr val="2D3748"/>
                </a:solidFill>
                <a:latin typeface="Arial"/>
              </a:defRPr>
            </a:pPr>
            <a:r>
              <a:t>+0.0291 (+2.91%)</a:t>
            </a:r>
          </a:p>
          <a:p>
            <a:pPr algn="ctr">
              <a:defRPr sz="1200" b="0">
                <a:solidFill>
                  <a:srgbClr val="2D3748"/>
                </a:solidFill>
                <a:latin typeface="Arial"/>
              </a:defRPr>
            </a:pPr>
          </a:p>
          <a:p>
            <a:pPr algn="ctr">
              <a:defRPr sz="1200" b="0">
                <a:solidFill>
                  <a:srgbClr val="2D3748"/>
                </a:solidFill>
                <a:latin typeface="Arial"/>
              </a:defRPr>
            </a:pPr>
            <a:r>
              <a:t>Giảm 114 ca dự đoán sai (-16.0%)</a:t>
            </a:r>
          </a:p>
          <a:p>
            <a:pPr algn="ctr">
              <a:defRPr sz="1200" b="0">
                <a:solidFill>
                  <a:srgbClr val="2D3748"/>
                </a:solidFill>
                <a:latin typeface="Arial"/>
              </a:defRPr>
            </a:pPr>
            <a:r>
              <a:t>Đánh đổi: Thời gian suy luận lớn hơn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983480"/>
            <a:ext cx="10725912" cy="1097280"/>
          </a:xfrm>
          <a:prstGeom prst="roundRect">
            <a:avLst/>
          </a:prstGeom>
          <a:solidFill>
            <a:srgbClr val="EBF8FF"/>
          </a:solidFill>
          <a:ln w="1524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1A365D"/>
                </a:solidFill>
                <a:latin typeface="Arial"/>
              </a:defRPr>
            </a:pPr>
            <a:r>
              <a:t>• Minh chứng khoa học thực chất: BERT vượt trội Baseline toàn diện trên cả 5 chỉ số phân loại (+2.89 percentage points Accuracy, +0.0291 Macro F1).</a:t>
            </a:r>
          </a:p>
          <a:p>
            <a:pPr algn="l">
              <a:defRPr sz="1100" b="0">
                <a:solidFill>
                  <a:srgbClr val="1A365D"/>
                </a:solidFill>
                <a:latin typeface="Arial"/>
              </a:defRPr>
            </a:pPr>
            <a:r>
              <a:t>• Tính nhất quán giữa các tập: Chỉ số Validation Macro F1 (83.89%) và Test Macro F1 (84.83%) sát nhau, nhất quán với hiệu năng quan sát được trên cả hai tập held-out (Validation and Test metrics are close, consistent with similar observed performance across the two held-out splits).</a:t>
            </a:r>
          </a:p>
          <a:p>
            <a:pPr algn="l">
              <a:defRPr sz="1100" b="0">
                <a:solidFill>
                  <a:srgbClr val="1A365D"/>
                </a:solidFill>
                <a:latin typeface="Arial"/>
              </a:defRPr>
            </a:pPr>
            <a:r>
              <a:t>• Đánh đổi kỹ thuật: Nâng cao độ chính xác và giảm 114 ca lỗi (-16.0%) đi kèm chi phí tính toán và độ trễ suy luận lớn hơn trên CPU (12.85 mẫu/s vs 28,784 mẫu/s).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B6CB0"/>
                </a:solidFill>
                <a:latin typeface="Arial"/>
              </a:defRPr>
            </a:pPr>
            <a:r>
              <a:t>CHƯƠNG 3: KẾT QUẢ THỰC NGHIỆM</a:t>
            </a:r>
          </a:p>
          <a:p>
            <a:pPr>
              <a:defRPr sz="2000" b="1">
                <a:solidFill>
                  <a:srgbClr val="1A365D"/>
                </a:solidFill>
                <a:latin typeface="Arial"/>
              </a:defRPr>
            </a:pPr>
            <a:r>
              <a:t>SO SÁNH MA TRẬN NHẦM LẪN TRÊN TẬP TEST (3,949 MẪU)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645920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327648"/>
            <a:ext cx="1072591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82512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718096"/>
                </a:solidFill>
                <a:latin typeface="Arial"/>
              </a:defRPr>
            </a:pPr>
            <a:r>
              <a:t>Đồ án Trí tuệ Nhân tạo — Mô hình BERT Phân loại Cảm xúc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382512"/>
            <a:ext cx="29535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2B6CB0"/>
                </a:solidFill>
                <a:latin typeface="Arial"/>
              </a:defRPr>
            </a:pPr>
            <a:r>
              <a:t>Trường Đại học Bách Khoa – ĐHĐN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1097280" cy="548640"/>
          </a:xfrm>
          <a:prstGeom prst="rect">
            <a:avLst/>
          </a:prstGeom>
        </p:spPr>
      </p:pic>
      <p:pic>
        <p:nvPicPr>
          <p:cNvPr id="8" name="Picture 7" descr="baseline_test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5166360" cy="3200400"/>
          </a:xfrm>
          <a:prstGeom prst="rect">
            <a:avLst/>
          </a:prstGeom>
        </p:spPr>
      </p:pic>
      <p:pic>
        <p:nvPicPr>
          <p:cNvPr id="9" name="Picture 8" descr="bert_test_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417320"/>
            <a:ext cx="5166360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4709160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B6CB0"/>
                </a:solidFill>
                <a:latin typeface="Arial"/>
              </a:defRPr>
            </a:pPr>
            <a:r>
              <a:t>Baseline: TN=1,691 | FP=293 | FN=420 | TP=1,545 (Tổng lỗi: 713 ca / 18.06%)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4709160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76749"/>
                </a:solidFill>
                <a:latin typeface="Arial"/>
              </a:defRPr>
            </a:pPr>
            <a:r>
              <a:t>BERT: TN=1,711 | FP=273 | FN=326 | TP=1,639 (Tổng lỗi: 599 ca / 15.17%)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20640"/>
            <a:ext cx="516636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276749"/>
                </a:solidFill>
                <a:latin typeface="Arial"/>
              </a:defRPr>
            </a:pPr>
            <a:r>
              <a:t>GIẢM MẠNH FALSE NEGATIVES (BỎ SÓT TÍCH CỰC):</a:t>
            </a:r>
          </a:p>
          <a:p>
            <a:pPr algn="l">
              <a:defRPr sz="1100" b="0">
                <a:solidFill>
                  <a:srgbClr val="2D3748"/>
                </a:solidFill>
                <a:latin typeface="Arial"/>
              </a:defRPr>
            </a:pPr>
            <a:r>
              <a:t>BERT giảm 94 ca FN (từ 420 xuống 326 ca, giảm 22.38%), nhận diện chính xác thêm 94 đánh giá tích cực so với Baseline.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5120640"/>
            <a:ext cx="516636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2B6CB0"/>
                </a:solidFill>
                <a:latin typeface="Arial"/>
              </a:defRPr>
            </a:pPr>
            <a:r>
              <a:t>GIẢM ĐỒNG THỜI CẢ FP VÀ FN TRÊN TOÀN BỘ TẬP TEST:</a:t>
            </a:r>
          </a:p>
          <a:p>
            <a:pPr algn="l">
              <a:defRPr sz="1100" b="0">
                <a:solidFill>
                  <a:srgbClr val="2D3748"/>
                </a:solidFill>
                <a:latin typeface="Arial"/>
              </a:defRPr>
            </a:pPr>
            <a:r>
              <a:t>BERT giảm 20 ca FP và 94 ca FN (tổng giảm 114 ca lỗi, -16.0%), cải thiện đồng bộ cả Precision (+2.78%) và Recall (+2.89%).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B6CB0"/>
                </a:solidFill>
                <a:latin typeface="Arial"/>
              </a:defRPr>
            </a:pPr>
            <a:r>
              <a:t>CHƯƠNG 3: KẾT QUẢ THỰC NGHIỆM</a:t>
            </a:r>
          </a:p>
          <a:p>
            <a:pPr>
              <a:defRPr sz="2000" b="1">
                <a:solidFill>
                  <a:srgbClr val="1A365D"/>
                </a:solidFill>
                <a:latin typeface="Arial"/>
              </a:defRPr>
            </a:pPr>
            <a:r>
              <a:t>PHÂN TÍCH LỖI ĐỊNH TÍNH TRÊN MẪU 20 CA TỰ TIN NHẤT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645920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327648"/>
            <a:ext cx="1072591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82512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718096"/>
                </a:solidFill>
                <a:latin typeface="Arial"/>
              </a:defRPr>
            </a:pPr>
            <a:r>
              <a:t>* Thống kê chỉ áp dụng trong phạm vi 20 ca lỗi có độ tự tin cao nhất được kiểm toán (within the 20 selected highest-confidence errors), không suy rộng cho toàn bộ 599 ca lỗi của BERT.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382512"/>
            <a:ext cx="29535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2B6CB0"/>
                </a:solidFill>
                <a:latin typeface="Arial"/>
              </a:defRPr>
            </a:pPr>
            <a:r>
              <a:t>Trường Đại học Bách Khoa – ĐHĐN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1097280" cy="548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417320"/>
            <a:ext cx="516636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5166360" cy="438912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01. CẢM XÚC HỖN HỢP (MIXED SENTIMENT) — 15/20 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47672"/>
            <a:ext cx="4892040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rial"/>
              </a:defRPr>
            </a:pPr>
            <a:r>
              <a:t>• 15/20 mẫu kiểm toán chứa đồng thời mệnh đề khen và chê (ví dụ: 'phòng rộng nhưng phục vụ tệ').</a:t>
            </a:r>
          </a:p>
          <a:p>
            <a:pPr algn="l">
              <a:defRPr sz="1100" b="0">
                <a:solidFill>
                  <a:srgbClr val="2D3748"/>
                </a:solidFill>
                <a:latin typeface="Arial"/>
              </a:defRPr>
            </a:pPr>
            <a:r>
              <a:t>• Nhãn nhị phân đơn lẻ (0 hoặc 1) gặp khó khăn khi đại diện đầy đủ văn bản đa chiều cảm xúc.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16636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166360" cy="438912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02. MƠ HỒ NHÃN / KHẢ NĂNG NHIỄU NHÃN (POSSIBLE LABEL AMBIGUITY / NOISE) — 8/20 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47672"/>
            <a:ext cx="4892040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rial"/>
              </a:defRPr>
            </a:pPr>
            <a:r>
              <a:t>• 8/20 mẫu bộc lộ mâu thuẫn rõ rệt giữa nhãn ground-truth và ngữ nghĩa bề mặt văn bản.</a:t>
            </a:r>
          </a:p>
          <a:p>
            <a:pPr algn="l">
              <a:defRPr sz="1100" b="0">
                <a:solidFill>
                  <a:srgbClr val="2D3748"/>
                </a:solidFill>
                <a:latin typeface="Arial"/>
              </a:defRPr>
            </a:pPr>
            <a:r>
              <a:t>• Dự đoán của mô hình thể hiện sự nhất quán với ngữ nghĩa bài viết hơn là nhãn được gán trong dữ liệu.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94760"/>
            <a:ext cx="516636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794760"/>
            <a:ext cx="5166360" cy="438912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03. PHỦ ĐỊNH / NHƯỢNG BỘ &amp; TEMPLATE MARKERS — 8 &amp; 6 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325112"/>
            <a:ext cx="4892040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rial"/>
              </a:defRPr>
            </a:pPr>
            <a:r>
              <a:t>• 8/20 ca chứa cấu trúc phủ định hoặc nhượng bộ ('not bad', 'didn't like').</a:t>
            </a:r>
          </a:p>
          <a:p>
            <a:pPr algn="l">
              <a:defRPr sz="1100" b="0">
                <a:solidFill>
                  <a:srgbClr val="2D3748"/>
                </a:solidFill>
                <a:latin typeface="Arial"/>
              </a:defRPr>
            </a:pPr>
            <a:r>
              <a:t>• 6/20 ca mang dấu vết biểu mẫu ghép chuỗi đặc thù ('No Positive', 'No Negative', 'nothing').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794760"/>
            <a:ext cx="516636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63640" y="3794760"/>
            <a:ext cx="5166360" cy="438912"/>
          </a:xfrm>
          <a:prstGeom prst="round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04. KIỂM TOÁN CẮT CỤT CHUỖI (TRUNCATION AUDIT) — 0/20 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325112"/>
            <a:ext cx="4892040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rial"/>
              </a:defRPr>
            </a:pPr>
            <a:r>
              <a:t>• 0/20 selected highest-confidence error cases exceeded MAX_LENGTH=128 (độ dài thực tế 6–126 tokens).</a:t>
            </a:r>
          </a:p>
          <a:p>
            <a:pPr algn="l">
              <a:defRPr sz="1100" b="0">
                <a:solidFill>
                  <a:srgbClr val="2D3748"/>
                </a:solidFill>
                <a:latin typeface="Arial"/>
              </a:defRPr>
            </a:pPr>
            <a:r>
              <a:t>• Quan sát này chỉ áp dụng cho 20 ca được kiểm toán, không suy rộng cho toàn bộ lỗi.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B6CB0"/>
                </a:solidFill>
                <a:latin typeface="Arial"/>
              </a:defRPr>
            </a:pPr>
            <a:r>
              <a:t>CHƯƠNG 4: ĐÓNG GÓI &amp; TRIỂN KHAI</a:t>
            </a:r>
          </a:p>
          <a:p>
            <a:pPr>
              <a:defRPr sz="2000" b="1">
                <a:solidFill>
                  <a:srgbClr val="1A365D"/>
                </a:solidFill>
                <a:latin typeface="Arial"/>
              </a:defRPr>
            </a:pPr>
            <a:r>
              <a:t>ỨNG DỤNG TƯƠNG TÁC THỜI GIAN THỰC (FASTAPI DEMO)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645920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327648"/>
            <a:ext cx="1072591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82512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718096"/>
                </a:solidFill>
                <a:latin typeface="Arial"/>
              </a:defRPr>
            </a:pPr>
            <a:r>
              <a:t>Đồ án Trí tuệ Nhân tạo — Mô hình BERT Phân loại Cảm xúc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382512"/>
            <a:ext cx="29535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2B6CB0"/>
                </a:solidFill>
                <a:latin typeface="Arial"/>
              </a:defRPr>
            </a:pPr>
            <a:r>
              <a:t>Trường Đại học Bách Khoa – ĐHĐN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1097280" cy="548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417320"/>
            <a:ext cx="5669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5669280" cy="438912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GIAO DIỆN ỨNG DỤNG WEB (FASTAPI UI — app/main.py)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65D"/>
                </a:solidFill>
                <a:latin typeface="Arial"/>
              </a:defRPr>
            </a:pPr>
            <a:r>
              <a:t>Ví dụ minh họa giao diện (không phải benchmark đóng băng):</a:t>
            </a:r>
          </a:p>
          <a:p>
            <a:pPr algn="l">
              <a:defRPr sz="1100" b="0" i="1">
                <a:solidFill>
                  <a:srgbClr val="2D3748"/>
                </a:solidFill>
                <a:latin typeface="Arial"/>
              </a:defRPr>
            </a:pPr>
            <a:r>
              <a:t>"The room was a bit small, but the location was great and breakfast was delicious!"</a:t>
            </a:r>
          </a:p>
          <a:p>
            <a:pPr algn="l">
              <a:defRPr sz="1100" b="1">
                <a:solidFill>
                  <a:srgbClr val="2B6CB0"/>
                </a:solidFill>
                <a:latin typeface="Arial"/>
              </a:defRPr>
            </a:pPr>
          </a:p>
          <a:p>
            <a:pPr algn="l">
              <a:defRPr sz="1100" b="1">
                <a:solidFill>
                  <a:srgbClr val="276749"/>
                </a:solidFill>
                <a:latin typeface="Arial"/>
              </a:defRPr>
            </a:pPr>
            <a:r>
              <a:t>Ứng dụng hiển thị khi chạy:</a:t>
            </a:r>
          </a:p>
          <a:p>
            <a:pPr algn="l">
              <a:defRPr sz="1100" b="0">
                <a:solidFill>
                  <a:srgbClr val="C53030"/>
                </a:solidFill>
                <a:latin typeface="Arial"/>
              </a:defRPr>
            </a:pPr>
            <a:r>
              <a:t>• Nhãn dự đoán và độ tin cậy từ BERT.</a:t>
            </a:r>
          </a:p>
          <a:p>
            <a:pPr algn="l">
              <a:defRPr sz="1100" b="1">
                <a:solidFill>
                  <a:srgbClr val="1A365D"/>
                </a:solidFill>
                <a:latin typeface="Arial"/>
              </a:defRPr>
            </a:pPr>
            <a:r>
              <a:t>• Thanh xác suất Positive / Negative từ đầu ra thực tế.</a:t>
            </a:r>
          </a:p>
          <a:p>
            <a:pPr algn="l">
              <a:defRPr sz="950" b="0">
                <a:solidFill>
                  <a:srgbClr val="2D3748"/>
                </a:solidFill>
                <a:latin typeface="Courier New"/>
              </a:defRPr>
            </a:pPr>
            <a:r>
              <a:t>• Trạng thái tải và thông báo lỗi rõ ràng, không lộ stack trace.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417320"/>
            <a:ext cx="47548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75120" y="1417320"/>
            <a:ext cx="4754880" cy="438912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TRIỂN KHAI CỤC BỘ NHẸ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947672"/>
            <a:ext cx="448056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rial"/>
              </a:defRPr>
            </a:pPr>
            <a:r>
              <a:t>• FastAPI phục vụ trang Jinja2 và endpoint POST /api/predict.</a:t>
            </a:r>
          </a:p>
          <a:p>
            <a:pPr algn="l">
              <a:defRPr sz="1100" b="0">
                <a:solidFill>
                  <a:srgbClr val="2D3748"/>
                </a:solidFill>
                <a:latin typeface="Arial"/>
              </a:defRPr>
            </a:pPr>
            <a:r>
              <a:t>• Pipeline chuẩn cache model/tokenizer, không nạp lại mỗi request.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2971800"/>
            <a:ext cx="47548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75120" y="2971800"/>
            <a:ext cx="4754880" cy="438912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KẾT QUẢ MÔ HÌNH THỰC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3502152"/>
            <a:ext cx="448056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rial"/>
              </a:defRPr>
            </a:pPr>
            <a:r>
              <a:t>• Nhãn, độ tin cậy và hai xác suất được lấy từ src.predict.predict_bert, không dùng giá trị minh họa.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4526280"/>
            <a:ext cx="47548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75120" y="4526280"/>
            <a:ext cx="4754880" cy="438912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TRẢI NGHIỆM THUYẾT TRÌNH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5056632"/>
            <a:ext cx="448056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rial"/>
              </a:defRPr>
            </a:pPr>
            <a:r>
              <a:t>• Ví dụ viết thủ công, bộ đếm ký tự, trạng thái tải và xử lý lỗi thân thiện trên một trang responsive.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B6CB0"/>
                </a:solidFill>
                <a:latin typeface="Arial"/>
              </a:defRPr>
            </a:pPr>
            <a:r>
              <a:t>CHƯƠNG 4: KẾT LUẬN &amp; ĐÁNH GIÁ</a:t>
            </a:r>
          </a:p>
          <a:p>
            <a:pPr>
              <a:defRPr sz="2000" b="1">
                <a:solidFill>
                  <a:srgbClr val="1A365D"/>
                </a:solidFill>
                <a:latin typeface="Arial"/>
              </a:defRPr>
            </a:pPr>
            <a:r>
              <a:t>HẠN CHẾ CỦA NGHIÊN CỨU &amp; HƯỚNG PHÁT TRIỂN (LIMITATIONS &amp; FUTURE WORK)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645920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327648"/>
            <a:ext cx="1072591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82512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718096"/>
                </a:solidFill>
                <a:latin typeface="Arial"/>
              </a:defRPr>
            </a:pPr>
            <a:r>
              <a:t>Đồ án Trí tuệ Nhân tạo — Mô hình BERT Phân loại Cảm xúc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382512"/>
            <a:ext cx="29535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2B6CB0"/>
                </a:solidFill>
                <a:latin typeface="Arial"/>
              </a:defRPr>
            </a:pPr>
            <a:r>
              <a:t>Trường Đại học Bách Khoa – ĐHĐN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1097280" cy="548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417320"/>
            <a:ext cx="5166360" cy="3794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5166360" cy="438912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HẠN CHẾ HIỆN TẠI (LIMITATIONS)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47672"/>
            <a:ext cx="4892040" cy="3172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1A365D"/>
                </a:solidFill>
              </a:rPr>
              <a:t>• Phân loại nhị phân (Binary sentiment only):</a:t>
            </a:r>
            <a:r>
              <a:rPr b="0" sz="1100">
                <a:solidFill>
                  <a:srgbClr val="2D3748"/>
                </a:solidFill>
              </a:rPr>
              <a:t> Hiện tại chỉ phân loại 2 lớp (Tích cực / Tiêu cực), chưa xử lý lớp trung lập (3 sao / Neutral) hoặc cảm xúc nhiều mức độ.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A365D"/>
                </a:solidFill>
              </a:rPr>
              <a:t>• Phạm vi kiểm toán lỗi (Selected qualitative analysis):</a:t>
            </a:r>
            <a:r>
              <a:rPr b="0" sz="1100">
                <a:solidFill>
                  <a:srgbClr val="2D3748"/>
                </a:solidFill>
              </a:rPr>
              <a:t> Chỉ tập trung kiểm toán 20 ca lỗi có độ tự tin cao nhất (highest-confidence errors), không suy rộng cho toàn bộ 599 ca lỗi của BERT.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A365D"/>
                </a:solidFill>
              </a:rPr>
              <a:t>• Chi phí suy luận trên CPU (BERT CPU inference cost):</a:t>
            </a:r>
            <a:r>
              <a:rPr b="0" sz="1100">
                <a:solidFill>
                  <a:srgbClr val="2D3748"/>
                </a:solidFill>
              </a:rPr>
              <a:t> Tốc độ ~12.85 mẫu/s (307.3s cho 3,949 mẫu) chậm hơn nhiều so với mô hình cơ sở (~28,784 mẫu/s) khi triển khai thực tế.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A365D"/>
                </a:solidFill>
              </a:rPr>
              <a:t>• Cắt cụt độ dài token (Sequence truncation):</a:t>
            </a:r>
            <a:r>
              <a:rPr b="0" sz="1100">
                <a:solidFill>
                  <a:srgbClr val="2D3748"/>
                </a:solidFill>
              </a:rPr>
              <a:t> 3.93% văn bản trong tập Train + Validation (620 mẫu) vượt quá ngưỡng MAX_LENGTH=128.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166360" cy="3794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166360" cy="438912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HƯỚNG PHÁT TRIỂN TƯƠNG LAI (FUTURE WORK)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47672"/>
            <a:ext cx="4892040" cy="3172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150">
                <a:solidFill>
                  <a:srgbClr val="1A365D"/>
                </a:solidFill>
              </a:rPr>
              <a:t>• Phân tích cảm xúc theo khía cạnh (ABSA):</a:t>
            </a:r>
            <a:r>
              <a:rPr b="0" sz="1150">
                <a:solidFill>
                  <a:srgbClr val="2D3748"/>
                </a:solidFill>
              </a:rPr>
              <a:t> Nhận diện cụ thể cảm xúc khách hàng theo từng thực thể dịch vụ (vị trí, phòng ốc, vệ sinh, giá cả, phục vụ).</a:t>
            </a:r>
          </a:p>
          <a:p>
            <a:pPr>
              <a:spcAft>
                <a:spcPts val="1400"/>
              </a:spcAft>
            </a:pPr>
            <a:r>
              <a:rPr b="1" sz="1150">
                <a:solidFill>
                  <a:srgbClr val="1A365D"/>
                </a:solidFill>
              </a:rPr>
              <a:t>• Tối ưu hóa &amp; nén mô hình (Efficient/distilled models):</a:t>
            </a:r>
            <a:r>
              <a:rPr b="0" sz="1150">
                <a:solidFill>
                  <a:srgbClr val="2D3748"/>
                </a:solidFill>
              </a:rPr>
              <a:t> Triển khai các mô hình nhỏ gọn hơn (DistilBERT, TinyBERT) hoặc lượng tử hóa kết hợp ONNX Runtime / TensorRT để tăng tốc độ suy luận.</a:t>
            </a:r>
          </a:p>
          <a:p>
            <a:pPr>
              <a:spcAft>
                <a:spcPts val="1400"/>
              </a:spcAft>
            </a:pPr>
            <a:r>
              <a:rPr b="1" sz="1150">
                <a:solidFill>
                  <a:srgbClr val="1A365D"/>
                </a:solidFill>
              </a:rPr>
              <a:t>• Mở rộng đa ngữ &amp; Tiếng Việt (Vietnamese / multilingual extension):</a:t>
            </a:r>
            <a:r>
              <a:rPr b="0" sz="1150">
                <a:solidFill>
                  <a:srgbClr val="2D3748"/>
                </a:solidFill>
              </a:rPr>
              <a:t> Huấn luyện và đánh giá trên các mô hình tiếng Việt chuyên biệt (PhoBERT, ViBERT) hoặc đa ngữ (mBERT, XLM-RoBERTa).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49240"/>
            <a:ext cx="10725912" cy="777240"/>
          </a:xfrm>
          <a:prstGeom prst="roundRect">
            <a:avLst/>
          </a:prstGeom>
          <a:solidFill>
            <a:srgbClr val="EBF8FF"/>
          </a:solidFill>
          <a:ln w="1524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365D"/>
                </a:solidFill>
                <a:latin typeface="Arial"/>
              </a:defRPr>
            </a:pPr>
            <a:r>
              <a:t>3 KẾT LUẬN CỐT LÕI: (1) Kiểm soát và báo cáo minh bạch giao thoa dữ liệu • (2) BERT vượt Baseline +2.89 percentage points Acc, +0.0291 Macro F1 • (3) Mẫu lỗi thường liên quan cảm xúc pha trộn và khả năng mơ hồ nhãn.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2022-10-04T00:50:19Z</dcterms:created>
  <dc:creator>Truong Ngoc Son-Khoa QLDA</dc:creator>
</cp:coreProperties>
</file>